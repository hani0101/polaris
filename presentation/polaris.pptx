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3" r:id="rId8"/>
    <p:sldId id="262"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E2D0F27-C605-E7BD-CF59-547B008F7F2C}">
          <p14:sldIdLst>
            <p14:sldId id="256"/>
          </p14:sldIdLst>
        </p14:section>
        <p14:section name="Problems" id="{9B6D45EF-E396-8874-40A2-7D6CBAD825CC}">
          <p14:sldIdLst>
            <p14:sldId id="257"/>
          </p14:sldIdLst>
        </p14:section>
        <p14:section name="Audience" id="{74C28624-8ECE-6EB4-DB26-40ADBD096854}">
          <p14:sldIdLst>
            <p14:sldId id="258"/>
          </p14:sldIdLst>
        </p14:section>
        <p14:section name="MVP" id="{932E4BF4-C717-7811-3494-145611EB6ABF}">
          <p14:sldIdLst>
            <p14:sldId id="259"/>
          </p14:sldIdLst>
        </p14:section>
        <p14:section name="UX/UI" id="{4A251FEF-084E-3440-3E23-2A01FF623AE6}">
          <p14:sldIdLst>
            <p14:sldId id="260"/>
          </p14:sldIdLst>
        </p14:section>
        <p14:section name="Technical requirements" id="{DE45B7C1-A566-DD9E-279E-C06CDA39977C}">
          <p14:sldIdLst>
            <p14:sldId id="261"/>
          </p14:sldIdLst>
        </p14:section>
        <p14:section name="Security" id="{36ABB7CD-5363-B3D9-D3EC-6727A6650567}">
          <p14:sldIdLst>
            <p14:sldId id="263"/>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942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Polaris is named after the North Star. For centuries people have used it to find north. Polaris AI does the same for learning: it points you in the right direction on any topic you want to learn.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Polaris helps anyone who wants to learn a specific topic, makes learning accessible for different people, helps students with their course material, and adapts the learning experience to each person.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Polaris is for students, career people, people looking for a mentor or guidance, and learners with limited income. It also suits every learning style: visual, auditory, reading and writing, and kinesthetic.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MVP covers the whiteboard, illustrations and animations, quizzes, resources, flashcards, memory of the learner's milestones, struggles and strengths, stored artifacts, sign in, and settings for appearance and profile. Curriculum building is still to be decided.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experience meets WCAG AA at minimum, is designed mobile first, gives structured and predictable outputs, is aware of context and personalized, accepts more than one way to give input, and is honest about its limits.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Polaris runs in the browser with a React frontend. Learning tools use tldraw for the whiteboard, Manim and Lottie for illustrations, and KaTeX for math. The backend is Python FastAPI with Pydantic and the Claude Agent SDK. Docker handles containerization and sandboxing.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Polaris today: one learner, local only (decision 0001). The browser talks to a FastAPI server over HTTP, with replies streamed as server-sent events. Each open session has one live Claude Code process, the teaching agent, whose tool calls come back to handlers inside the server (the dashed arrow). One-shot Claude calls (session title, profile pass, answer-key check) share a 2-thread queue; animations run on a separate 2-worker queue. Everything is stored in polaris.db and a data folder on disk. The only things outside the machine are the Anthropic API, reached on the learner's own Claude login, and public web pages, read only when the learner asks.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993222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today: the OWASP Top 10 for LLM applications is partly covered. Three risks are covered, three mostly covered, three partly covered, and one does not apply. Guardrails are still to be decided. There is authorization, rate limiting on password sign-in only for now, and protection against XSS.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C070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0"/>
            <a:ext cx="3749040" cy="365760"/>
          </a:xfrm>
          <a:prstGeom prst="rect">
            <a:avLst/>
          </a:prstGeom>
          <a:noFill/>
          <a:ln/>
        </p:spPr>
        <p:txBody>
          <a:bodyPr wrap="square" rtlCol="0"/>
          <a:lstStyle>
            <a:lvl1pPr marL="0" indent="0" algn="l">
              <a:buNone/>
              <a:defRPr lang="en-US" sz="1400" b="1" dirty="0">
                <a:solidFill>
                  <a:schemeClr val="accent1"/>
                </a:solidFill>
              </a:defRPr>
            </a:lvl1pPr>
          </a:lstStyle>
          <a:p>
            <a:pPr marL="0" indent="0" algn="l">
              <a:buNone/>
            </a:pPr>
            <a:endParaRPr lang="en-US" sz="1400" dirty="0"/>
          </a:p>
        </p:txBody>
      </p:sp>
      <p:sp>
        <p:nvSpPr>
          <p:cNvPr id="3" name="Text 0"/>
          <p:cNvSpPr>
            <a:spLocks noGrp="1"/>
          </p:cNvSpPr>
          <p:nvPr>
            <p:ph type="title" idx="101" hasCustomPrompt="1"/>
          </p:nvPr>
        </p:nvSpPr>
        <p:spPr>
          <a:xfrm>
            <a:off x="548640" y="1325880"/>
            <a:ext cx="3749040" cy="8229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4" name="Text 0"/>
          <p:cNvSpPr>
            <a:spLocks noGrp="1"/>
          </p:cNvSpPr>
          <p:nvPr>
            <p:ph type="body" idx="102" hasCustomPrompt="1"/>
          </p:nvPr>
        </p:nvSpPr>
        <p:spPr>
          <a:xfrm>
            <a:off x="548640" y="2331720"/>
            <a:ext cx="3840480" cy="2194560"/>
          </a:xfrm>
          <a:prstGeom prst="rect">
            <a:avLst/>
          </a:prstGeom>
          <a:noFill/>
          <a:ln/>
        </p:spPr>
        <p:txBody>
          <a:bodyPr wrap="square" rtlCol="0"/>
          <a:lstStyle>
            <a:lvl1pPr marL="0" indent="0" algn="l">
              <a:spcAft>
                <a:spcPts val="1000"/>
              </a:spcAft>
              <a:buNone/>
              <a:defRPr lang="en-US" sz="1500" dirty="0">
                <a:solidFill>
                  <a:schemeClr val="bg1"/>
                </a:solidFill>
              </a:defRPr>
            </a:lvl1pPr>
          </a:lstStyle>
          <a:p>
            <a:pPr marL="0" indent="0" algn="l">
              <a:spcAft>
                <a:spcPts val="1000"/>
              </a:spcAft>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Dark">
    <p:bg>
      <p:bgPr>
        <a:solidFill>
          <a:srgbClr val="0C070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10972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olaris star photo" descr="Polaris, the North Star, shining in the night sky"/>
          <p:cNvPicPr>
            <a:picLocks noChangeAspect="1"/>
          </p:cNvPicPr>
          <p:nvPr/>
        </p:nvPicPr>
        <p:blipFill>
          <a:blip r:embed="rId3"/>
          <a:stretch>
            <a:fillRect/>
          </a:stretch>
        </p:blipFill>
        <p:spPr>
          <a:xfrm>
            <a:off x="4480560" y="0"/>
            <a:ext cx="4663440" cy="5143500"/>
          </a:xfrm>
          <a:prstGeom prst="rect">
            <a:avLst/>
          </a:prstGeom>
        </p:spPr>
      </p:pic>
      <p:sp>
        <p:nvSpPr>
          <p:cNvPr id="3" name="Text 0"/>
          <p:cNvSpPr>
            <a:spLocks noGrp="1"/>
          </p:cNvSpPr>
          <p:nvPr>
            <p:ph type="body" idx="100" hasCustomPrompt="1"/>
          </p:nvPr>
        </p:nvSpPr>
        <p:spPr>
          <a:xfrm>
            <a:off x="548640" y="914400"/>
            <a:ext cx="3749040" cy="365760"/>
          </a:xfrm>
          <a:prstGeom prst="rect">
            <a:avLst/>
          </a:prstGeom>
          <a:noFill/>
          <a:ln/>
        </p:spPr>
        <p:txBody>
          <a:bodyPr wrap="square" lIns="0" tIns="0" rIns="0" bIns="0" rtlCol="0" anchor="b"/>
          <a:lstStyle/>
          <a:p>
            <a:pPr marL="0" indent="0" algn="l">
              <a:buNone/>
            </a:pPr>
            <a:r>
              <a:rPr lang="en-US" sz="1400" b="1" dirty="0">
                <a:solidFill>
                  <a:schemeClr val="accent1"/>
                </a:solidFill>
              </a:rPr>
              <a:t>The North Star</a:t>
            </a:r>
            <a:endParaRPr lang="en-US" sz="1400" dirty="0"/>
          </a:p>
        </p:txBody>
      </p:sp>
      <p:sp>
        <p:nvSpPr>
          <p:cNvPr id="4" name="Text 0"/>
          <p:cNvSpPr>
            <a:spLocks noGrp="1"/>
          </p:cNvSpPr>
          <p:nvPr>
            <p:ph type="title" idx="101" hasCustomPrompt="1"/>
          </p:nvPr>
        </p:nvSpPr>
        <p:spPr>
          <a:xfrm>
            <a:off x="548640" y="1325880"/>
            <a:ext cx="3749040" cy="822960"/>
          </a:xfrm>
          <a:prstGeom prst="rect">
            <a:avLst/>
          </a:prstGeom>
          <a:noFill/>
          <a:ln/>
        </p:spPr>
        <p:txBody>
          <a:bodyPr wrap="square" lIns="0" tIns="0" rIns="0" bIns="0" rtlCol="0" anchor="t"/>
          <a:lstStyle/>
          <a:p>
            <a:pPr marL="0" indent="0" algn="l">
              <a:buNone/>
            </a:pPr>
            <a:r>
              <a:rPr lang="en-US" sz="4800" b="1" dirty="0">
                <a:solidFill>
                  <a:schemeClr val="bg1"/>
                </a:solidFill>
              </a:rPr>
              <a:t>Polaris</a:t>
            </a:r>
            <a:endParaRPr lang="en-US" sz="4800" dirty="0"/>
          </a:p>
        </p:txBody>
      </p:sp>
      <p:sp>
        <p:nvSpPr>
          <p:cNvPr id="5" name="Text 0"/>
          <p:cNvSpPr>
            <a:spLocks noGrp="1"/>
          </p:cNvSpPr>
          <p:nvPr>
            <p:ph type="body" idx="102" hasCustomPrompt="1"/>
          </p:nvPr>
        </p:nvSpPr>
        <p:spPr>
          <a:xfrm>
            <a:off x="548640" y="2331720"/>
            <a:ext cx="3840480" cy="2194560"/>
          </a:xfrm>
          <a:prstGeom prst="rect">
            <a:avLst/>
          </a:prstGeom>
          <a:noFill/>
          <a:ln/>
        </p:spPr>
        <p:txBody>
          <a:bodyPr wrap="square" lIns="0" tIns="0" rIns="0" bIns="0" rtlCol="0" anchor="t"/>
          <a:lstStyle/>
          <a:p>
            <a:pPr marL="228600" indent="-228600" algn="l">
              <a:spcAft>
                <a:spcPts val="1000"/>
              </a:spcAft>
              <a:buSzPct val="100000"/>
              <a:buChar char="•"/>
            </a:pPr>
            <a:r>
              <a:rPr lang="en-US" sz="1500" dirty="0">
                <a:solidFill>
                  <a:schemeClr val="bg1"/>
                </a:solidFill>
              </a:rPr>
              <a:t>It gets its name from the North Star.</a:t>
            </a:r>
            <a:endParaRPr lang="en-US" sz="1500" dirty="0"/>
          </a:p>
          <a:p>
            <a:pPr marL="228600" indent="-228600" algn="l">
              <a:spcAft>
                <a:spcPts val="1000"/>
              </a:spcAft>
              <a:buSzPct val="100000"/>
              <a:buChar char="•"/>
            </a:pPr>
            <a:r>
              <a:rPr lang="en-US" sz="1500" dirty="0">
                <a:solidFill>
                  <a:schemeClr val="bg1"/>
                </a:solidFill>
              </a:rPr>
              <a:t>Around the 5th century, people started using the star as a guide to help them locate the north.</a:t>
            </a:r>
            <a:endParaRPr lang="en-US" sz="1500" dirty="0"/>
          </a:p>
          <a:p>
            <a:pPr marL="228600" indent="-228600" algn="l">
              <a:spcAft>
                <a:spcPts val="1000"/>
              </a:spcAft>
              <a:buSzPct val="100000"/>
              <a:buChar char="•"/>
            </a:pPr>
            <a:r>
              <a:rPr lang="en-US" sz="1500" dirty="0">
                <a:solidFill>
                  <a:schemeClr val="bg1"/>
                </a:solidFill>
              </a:rPr>
              <a:t>Polaris AI will do the same thing: it will help you get guidance on anything you want to learn.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1097280"/>
          </a:xfrm>
          <a:prstGeom prst="rect">
            <a:avLst/>
          </a:prstGeom>
          <a:noFill/>
          <a:ln/>
        </p:spPr>
        <p:txBody>
          <a:bodyPr wrap="square" lIns="0" tIns="0" rIns="0" bIns="0" rtlCol="0" anchor="t"/>
          <a:lstStyle/>
          <a:p>
            <a:pPr marL="0" indent="0" algn="l">
              <a:buNone/>
            </a:pPr>
            <a:r>
              <a:rPr lang="en-US" sz="3600" b="1" dirty="0">
                <a:solidFill>
                  <a:schemeClr val="bg1"/>
                </a:solidFill>
              </a:rPr>
              <a:t>What problems can the app solve?</a:t>
            </a:r>
            <a:endParaRPr lang="en-US" sz="3600" dirty="0"/>
          </a:p>
        </p:txBody>
      </p:sp>
      <p:sp>
        <p:nvSpPr>
          <p:cNvPr id="3" name="Problem 1 card"/>
          <p:cNvSpPr/>
          <p:nvPr/>
        </p:nvSpPr>
        <p:spPr>
          <a:xfrm>
            <a:off x="548640" y="1783080"/>
            <a:ext cx="3886200" cy="1234440"/>
          </a:xfrm>
          <a:prstGeom prst="roundRect">
            <a:avLst>
              <a:gd name="adj" fmla="val 8889"/>
            </a:avLst>
          </a:prstGeom>
          <a:solidFill>
            <a:schemeClr val="tx2"/>
          </a:solidFill>
          <a:ln w="12700">
            <a:solidFill>
              <a:srgbClr val="3A3026"/>
            </a:solidFill>
            <a:prstDash val="solid"/>
          </a:ln>
        </p:spPr>
      </p:sp>
      <p:sp>
        <p:nvSpPr>
          <p:cNvPr id="4" name="Problem 1 icon circle"/>
          <p:cNvSpPr/>
          <p:nvPr/>
        </p:nvSpPr>
        <p:spPr>
          <a:xfrm>
            <a:off x="822960" y="2125980"/>
            <a:ext cx="548640" cy="548640"/>
          </a:xfrm>
          <a:prstGeom prst="ellipse">
            <a:avLst/>
          </a:prstGeom>
          <a:solidFill>
            <a:schemeClr val="accent1"/>
          </a:solidFill>
          <a:ln/>
        </p:spPr>
      </p:sp>
      <p:pic>
        <p:nvPicPr>
          <p:cNvPr id="5" name="Problem 1 icon" descr="preencoded.png"/>
          <p:cNvPicPr>
            <a:picLocks noChangeAspect="1"/>
          </p:cNvPicPr>
          <p:nvPr/>
        </p:nvPicPr>
        <p:blipFill>
          <a:blip r:embed="rId3"/>
          <a:stretch>
            <a:fillRect/>
          </a:stretch>
        </p:blipFill>
        <p:spPr>
          <a:xfrm>
            <a:off x="950976" y="2253996"/>
            <a:ext cx="292608" cy="292608"/>
          </a:xfrm>
          <a:prstGeom prst="rect">
            <a:avLst/>
          </a:prstGeom>
        </p:spPr>
      </p:pic>
      <p:sp>
        <p:nvSpPr>
          <p:cNvPr id="6" name="Problem 1 text"/>
          <p:cNvSpPr txBox="1"/>
          <p:nvPr/>
        </p:nvSpPr>
        <p:spPr>
          <a:xfrm>
            <a:off x="1645920" y="1783080"/>
            <a:ext cx="2514600" cy="1234440"/>
          </a:xfrm>
          <a:prstGeom prst="rect">
            <a:avLst/>
          </a:prstGeom>
          <a:noFill/>
          <a:ln/>
        </p:spPr>
        <p:txBody>
          <a:bodyPr wrap="square" lIns="0" tIns="0" rIns="0" bIns="0" rtlCol="0" anchor="ctr"/>
          <a:lstStyle/>
          <a:p>
            <a:pPr marL="0" indent="0">
              <a:buNone/>
            </a:pPr>
            <a:r>
              <a:rPr lang="en-US" sz="1600" dirty="0">
                <a:solidFill>
                  <a:schemeClr val="bg1"/>
                </a:solidFill>
              </a:rPr>
              <a:t>A person wanting to learn a specific topic</a:t>
            </a:r>
            <a:endParaRPr lang="en-US" sz="1600" dirty="0"/>
          </a:p>
        </p:txBody>
      </p:sp>
      <p:sp>
        <p:nvSpPr>
          <p:cNvPr id="7" name="Problem 2 card"/>
          <p:cNvSpPr/>
          <p:nvPr/>
        </p:nvSpPr>
        <p:spPr>
          <a:xfrm>
            <a:off x="4709160" y="1783080"/>
            <a:ext cx="3886200" cy="1234440"/>
          </a:xfrm>
          <a:prstGeom prst="roundRect">
            <a:avLst>
              <a:gd name="adj" fmla="val 8889"/>
            </a:avLst>
          </a:prstGeom>
          <a:solidFill>
            <a:schemeClr val="tx2"/>
          </a:solidFill>
          <a:ln w="12700">
            <a:solidFill>
              <a:srgbClr val="3A3026"/>
            </a:solidFill>
            <a:prstDash val="solid"/>
          </a:ln>
        </p:spPr>
      </p:sp>
      <p:sp>
        <p:nvSpPr>
          <p:cNvPr id="8" name="Problem 2 icon circle"/>
          <p:cNvSpPr/>
          <p:nvPr/>
        </p:nvSpPr>
        <p:spPr>
          <a:xfrm>
            <a:off x="4983480" y="2125980"/>
            <a:ext cx="548640" cy="548640"/>
          </a:xfrm>
          <a:prstGeom prst="ellipse">
            <a:avLst/>
          </a:prstGeom>
          <a:solidFill>
            <a:schemeClr val="accent1"/>
          </a:solidFill>
          <a:ln/>
        </p:spPr>
      </p:sp>
      <p:pic>
        <p:nvPicPr>
          <p:cNvPr id="9" name="Problem 2 icon" descr="preencoded.png"/>
          <p:cNvPicPr>
            <a:picLocks noChangeAspect="1"/>
          </p:cNvPicPr>
          <p:nvPr/>
        </p:nvPicPr>
        <p:blipFill>
          <a:blip r:embed="rId4"/>
          <a:stretch>
            <a:fillRect/>
          </a:stretch>
        </p:blipFill>
        <p:spPr>
          <a:xfrm>
            <a:off x="5111496" y="2253996"/>
            <a:ext cx="292608" cy="292608"/>
          </a:xfrm>
          <a:prstGeom prst="rect">
            <a:avLst/>
          </a:prstGeom>
        </p:spPr>
      </p:pic>
      <p:sp>
        <p:nvSpPr>
          <p:cNvPr id="10" name="Problem 2 text"/>
          <p:cNvSpPr txBox="1"/>
          <p:nvPr/>
        </p:nvSpPr>
        <p:spPr>
          <a:xfrm>
            <a:off x="5806440" y="1783080"/>
            <a:ext cx="2514600" cy="1234440"/>
          </a:xfrm>
          <a:prstGeom prst="rect">
            <a:avLst/>
          </a:prstGeom>
          <a:noFill/>
          <a:ln/>
        </p:spPr>
        <p:txBody>
          <a:bodyPr wrap="square" lIns="0" tIns="0" rIns="0" bIns="0" rtlCol="0" anchor="ctr"/>
          <a:lstStyle/>
          <a:p>
            <a:pPr marL="0" indent="0">
              <a:buNone/>
            </a:pPr>
            <a:r>
              <a:rPr lang="en-US" sz="1600" dirty="0">
                <a:solidFill>
                  <a:schemeClr val="bg1"/>
                </a:solidFill>
              </a:rPr>
              <a:t>Accessible learning for different users</a:t>
            </a:r>
            <a:endParaRPr lang="en-US" sz="1600" dirty="0"/>
          </a:p>
        </p:txBody>
      </p:sp>
      <p:sp>
        <p:nvSpPr>
          <p:cNvPr id="11" name="Problem 3 card"/>
          <p:cNvSpPr/>
          <p:nvPr/>
        </p:nvSpPr>
        <p:spPr>
          <a:xfrm>
            <a:off x="548640" y="3291840"/>
            <a:ext cx="3886200" cy="1234440"/>
          </a:xfrm>
          <a:prstGeom prst="roundRect">
            <a:avLst>
              <a:gd name="adj" fmla="val 8889"/>
            </a:avLst>
          </a:prstGeom>
          <a:solidFill>
            <a:schemeClr val="tx2"/>
          </a:solidFill>
          <a:ln w="12700">
            <a:solidFill>
              <a:srgbClr val="3A3026"/>
            </a:solidFill>
            <a:prstDash val="solid"/>
          </a:ln>
        </p:spPr>
      </p:sp>
      <p:sp>
        <p:nvSpPr>
          <p:cNvPr id="12" name="Problem 3 icon circle"/>
          <p:cNvSpPr/>
          <p:nvPr/>
        </p:nvSpPr>
        <p:spPr>
          <a:xfrm>
            <a:off x="822960" y="3634740"/>
            <a:ext cx="548640" cy="548640"/>
          </a:xfrm>
          <a:prstGeom prst="ellipse">
            <a:avLst/>
          </a:prstGeom>
          <a:solidFill>
            <a:schemeClr val="accent1"/>
          </a:solidFill>
          <a:ln/>
        </p:spPr>
      </p:sp>
      <p:pic>
        <p:nvPicPr>
          <p:cNvPr id="13" name="Problem 3 icon" descr="preencoded.png"/>
          <p:cNvPicPr>
            <a:picLocks noChangeAspect="1"/>
          </p:cNvPicPr>
          <p:nvPr/>
        </p:nvPicPr>
        <p:blipFill>
          <a:blip r:embed="rId5"/>
          <a:stretch>
            <a:fillRect/>
          </a:stretch>
        </p:blipFill>
        <p:spPr>
          <a:xfrm>
            <a:off x="950976" y="3762756"/>
            <a:ext cx="292608" cy="292608"/>
          </a:xfrm>
          <a:prstGeom prst="rect">
            <a:avLst/>
          </a:prstGeom>
        </p:spPr>
      </p:pic>
      <p:sp>
        <p:nvSpPr>
          <p:cNvPr id="14" name="Problem 3 text"/>
          <p:cNvSpPr txBox="1"/>
          <p:nvPr/>
        </p:nvSpPr>
        <p:spPr>
          <a:xfrm>
            <a:off x="1645920" y="3291840"/>
            <a:ext cx="2514600" cy="1234440"/>
          </a:xfrm>
          <a:prstGeom prst="rect">
            <a:avLst/>
          </a:prstGeom>
          <a:noFill/>
          <a:ln/>
        </p:spPr>
        <p:txBody>
          <a:bodyPr wrap="square" lIns="0" tIns="0" rIns="0" bIns="0" rtlCol="0" anchor="ctr"/>
          <a:lstStyle/>
          <a:p>
            <a:pPr marL="0" indent="0">
              <a:buNone/>
            </a:pPr>
            <a:r>
              <a:rPr lang="en-US" sz="1600" dirty="0">
                <a:solidFill>
                  <a:schemeClr val="bg1"/>
                </a:solidFill>
              </a:rPr>
              <a:t>Students wanting to learn their course material</a:t>
            </a:r>
            <a:endParaRPr lang="en-US" sz="1600" dirty="0"/>
          </a:p>
        </p:txBody>
      </p:sp>
      <p:sp>
        <p:nvSpPr>
          <p:cNvPr id="15" name="Problem 4 card"/>
          <p:cNvSpPr/>
          <p:nvPr/>
        </p:nvSpPr>
        <p:spPr>
          <a:xfrm>
            <a:off x="4709160" y="3291840"/>
            <a:ext cx="3886200" cy="1234440"/>
          </a:xfrm>
          <a:prstGeom prst="roundRect">
            <a:avLst>
              <a:gd name="adj" fmla="val 8889"/>
            </a:avLst>
          </a:prstGeom>
          <a:solidFill>
            <a:schemeClr val="tx2"/>
          </a:solidFill>
          <a:ln w="12700">
            <a:solidFill>
              <a:srgbClr val="3A3026"/>
            </a:solidFill>
            <a:prstDash val="solid"/>
          </a:ln>
        </p:spPr>
      </p:sp>
      <p:sp>
        <p:nvSpPr>
          <p:cNvPr id="16" name="Problem 4 icon circle"/>
          <p:cNvSpPr/>
          <p:nvPr/>
        </p:nvSpPr>
        <p:spPr>
          <a:xfrm>
            <a:off x="4983480" y="3634740"/>
            <a:ext cx="548640" cy="548640"/>
          </a:xfrm>
          <a:prstGeom prst="ellipse">
            <a:avLst/>
          </a:prstGeom>
          <a:solidFill>
            <a:schemeClr val="accent1"/>
          </a:solidFill>
          <a:ln/>
        </p:spPr>
      </p:sp>
      <p:pic>
        <p:nvPicPr>
          <p:cNvPr id="17" name="Problem 4 icon" descr="preencoded.png"/>
          <p:cNvPicPr>
            <a:picLocks noChangeAspect="1"/>
          </p:cNvPicPr>
          <p:nvPr/>
        </p:nvPicPr>
        <p:blipFill>
          <a:blip r:embed="rId6"/>
          <a:stretch>
            <a:fillRect/>
          </a:stretch>
        </p:blipFill>
        <p:spPr>
          <a:xfrm>
            <a:off x="5111496" y="3762756"/>
            <a:ext cx="292608" cy="292608"/>
          </a:xfrm>
          <a:prstGeom prst="rect">
            <a:avLst/>
          </a:prstGeom>
        </p:spPr>
      </p:pic>
      <p:sp>
        <p:nvSpPr>
          <p:cNvPr id="18" name="Problem 4 text"/>
          <p:cNvSpPr txBox="1"/>
          <p:nvPr/>
        </p:nvSpPr>
        <p:spPr>
          <a:xfrm>
            <a:off x="5806440" y="3291840"/>
            <a:ext cx="2514600" cy="1234440"/>
          </a:xfrm>
          <a:prstGeom prst="rect">
            <a:avLst/>
          </a:prstGeom>
          <a:noFill/>
          <a:ln/>
        </p:spPr>
        <p:txBody>
          <a:bodyPr wrap="square" lIns="0" tIns="0" rIns="0" bIns="0" rtlCol="0" anchor="ctr"/>
          <a:lstStyle/>
          <a:p>
            <a:pPr marL="0" indent="0">
              <a:buNone/>
            </a:pPr>
            <a:r>
              <a:rPr lang="en-US" sz="1600" dirty="0">
                <a:solidFill>
                  <a:schemeClr val="bg1"/>
                </a:solidFill>
              </a:rPr>
              <a:t>A customizable learning experience for each person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1097280"/>
          </a:xfrm>
          <a:prstGeom prst="rect">
            <a:avLst/>
          </a:prstGeom>
          <a:noFill/>
          <a:ln/>
        </p:spPr>
        <p:txBody>
          <a:bodyPr wrap="square" lIns="0" tIns="0" rIns="0" bIns="0" rtlCol="0" anchor="t"/>
          <a:lstStyle/>
          <a:p>
            <a:pPr marL="0" indent="0" algn="l">
              <a:buNone/>
            </a:pPr>
            <a:r>
              <a:rPr lang="en-US" sz="3600" b="1" dirty="0">
                <a:solidFill>
                  <a:schemeClr val="bg1"/>
                </a:solidFill>
              </a:rPr>
              <a:t>Who is our target audience?</a:t>
            </a:r>
            <a:endParaRPr lang="en-US" sz="3600" dirty="0"/>
          </a:p>
        </p:txBody>
      </p:sp>
      <p:sp>
        <p:nvSpPr>
          <p:cNvPr id="3" name="Who they are label"/>
          <p:cNvSpPr txBox="1"/>
          <p:nvPr/>
        </p:nvSpPr>
        <p:spPr>
          <a:xfrm>
            <a:off x="548640" y="1371600"/>
            <a:ext cx="8046720" cy="274320"/>
          </a:xfrm>
          <a:prstGeom prst="rect">
            <a:avLst/>
          </a:prstGeom>
          <a:noFill/>
          <a:ln/>
        </p:spPr>
        <p:txBody>
          <a:bodyPr wrap="square" lIns="0" tIns="0" rIns="0" bIns="0" rtlCol="0" anchor="b"/>
          <a:lstStyle/>
          <a:p>
            <a:pPr marL="0" indent="0">
              <a:buNone/>
            </a:pPr>
            <a:r>
              <a:rPr lang="en-US" sz="1400" b="1" dirty="0">
                <a:solidFill>
                  <a:schemeClr val="accent1"/>
                </a:solidFill>
              </a:rPr>
              <a:t>Who they are</a:t>
            </a:r>
            <a:endParaRPr lang="en-US" sz="1400" dirty="0"/>
          </a:p>
        </p:txBody>
      </p:sp>
      <p:sp>
        <p:nvSpPr>
          <p:cNvPr id="4" name="Students tile"/>
          <p:cNvSpPr/>
          <p:nvPr/>
        </p:nvSpPr>
        <p:spPr>
          <a:xfrm>
            <a:off x="548640" y="1691640"/>
            <a:ext cx="1805940" cy="1188720"/>
          </a:xfrm>
          <a:prstGeom prst="roundRect">
            <a:avLst>
              <a:gd name="adj" fmla="val 9231"/>
            </a:avLst>
          </a:prstGeom>
          <a:solidFill>
            <a:schemeClr val="tx2"/>
          </a:solidFill>
          <a:ln w="12700">
            <a:solidFill>
              <a:srgbClr val="3A3026"/>
            </a:solidFill>
            <a:prstDash val="solid"/>
          </a:ln>
        </p:spPr>
      </p:sp>
      <p:sp>
        <p:nvSpPr>
          <p:cNvPr id="5" name="Students icon circle"/>
          <p:cNvSpPr/>
          <p:nvPr/>
        </p:nvSpPr>
        <p:spPr>
          <a:xfrm>
            <a:off x="731520" y="1856232"/>
            <a:ext cx="411480" cy="411480"/>
          </a:xfrm>
          <a:prstGeom prst="ellipse">
            <a:avLst/>
          </a:prstGeom>
          <a:solidFill>
            <a:schemeClr val="accent1"/>
          </a:solidFill>
          <a:ln/>
        </p:spPr>
      </p:sp>
      <p:pic>
        <p:nvPicPr>
          <p:cNvPr id="6" name="Students icon" descr="preencoded.png"/>
          <p:cNvPicPr>
            <a:picLocks noChangeAspect="1"/>
          </p:cNvPicPr>
          <p:nvPr/>
        </p:nvPicPr>
        <p:blipFill>
          <a:blip r:embed="rId3"/>
          <a:stretch>
            <a:fillRect/>
          </a:stretch>
        </p:blipFill>
        <p:spPr>
          <a:xfrm>
            <a:off x="822960" y="1947672"/>
            <a:ext cx="228600" cy="228600"/>
          </a:xfrm>
          <a:prstGeom prst="rect">
            <a:avLst/>
          </a:prstGeom>
        </p:spPr>
      </p:pic>
      <p:sp>
        <p:nvSpPr>
          <p:cNvPr id="7" name="Students text"/>
          <p:cNvSpPr txBox="1"/>
          <p:nvPr/>
        </p:nvSpPr>
        <p:spPr>
          <a:xfrm>
            <a:off x="731520" y="2350008"/>
            <a:ext cx="1440180" cy="484632"/>
          </a:xfrm>
          <a:prstGeom prst="rect">
            <a:avLst/>
          </a:prstGeom>
          <a:noFill/>
          <a:ln/>
        </p:spPr>
        <p:txBody>
          <a:bodyPr wrap="square" lIns="0" tIns="0" rIns="0" bIns="0" rtlCol="0" anchor="t"/>
          <a:lstStyle/>
          <a:p>
            <a:pPr marL="0" indent="0">
              <a:buNone/>
            </a:pPr>
            <a:r>
              <a:rPr lang="en-US" sz="1400" dirty="0">
                <a:solidFill>
                  <a:schemeClr val="bg1"/>
                </a:solidFill>
              </a:rPr>
              <a:t>Students</a:t>
            </a:r>
            <a:endParaRPr lang="en-US" sz="1400" dirty="0"/>
          </a:p>
        </p:txBody>
      </p:sp>
      <p:sp>
        <p:nvSpPr>
          <p:cNvPr id="8" name="Career people tile"/>
          <p:cNvSpPr/>
          <p:nvPr/>
        </p:nvSpPr>
        <p:spPr>
          <a:xfrm>
            <a:off x="2628900" y="1691640"/>
            <a:ext cx="1805940" cy="1188720"/>
          </a:xfrm>
          <a:prstGeom prst="roundRect">
            <a:avLst>
              <a:gd name="adj" fmla="val 9231"/>
            </a:avLst>
          </a:prstGeom>
          <a:solidFill>
            <a:schemeClr val="tx2"/>
          </a:solidFill>
          <a:ln w="12700">
            <a:solidFill>
              <a:srgbClr val="3A3026"/>
            </a:solidFill>
            <a:prstDash val="solid"/>
          </a:ln>
        </p:spPr>
      </p:sp>
      <p:sp>
        <p:nvSpPr>
          <p:cNvPr id="9" name="Career people icon circle"/>
          <p:cNvSpPr/>
          <p:nvPr/>
        </p:nvSpPr>
        <p:spPr>
          <a:xfrm>
            <a:off x="2811780" y="1856232"/>
            <a:ext cx="411480" cy="411480"/>
          </a:xfrm>
          <a:prstGeom prst="ellipse">
            <a:avLst/>
          </a:prstGeom>
          <a:solidFill>
            <a:schemeClr val="accent1"/>
          </a:solidFill>
          <a:ln/>
        </p:spPr>
      </p:sp>
      <p:pic>
        <p:nvPicPr>
          <p:cNvPr id="10" name="Career people icon" descr="preencoded.png"/>
          <p:cNvPicPr>
            <a:picLocks noChangeAspect="1"/>
          </p:cNvPicPr>
          <p:nvPr/>
        </p:nvPicPr>
        <p:blipFill>
          <a:blip r:embed="rId4"/>
          <a:stretch>
            <a:fillRect/>
          </a:stretch>
        </p:blipFill>
        <p:spPr>
          <a:xfrm>
            <a:off x="2903220" y="1947672"/>
            <a:ext cx="228600" cy="228600"/>
          </a:xfrm>
          <a:prstGeom prst="rect">
            <a:avLst/>
          </a:prstGeom>
        </p:spPr>
      </p:pic>
      <p:sp>
        <p:nvSpPr>
          <p:cNvPr id="11" name="Career people text"/>
          <p:cNvSpPr txBox="1"/>
          <p:nvPr/>
        </p:nvSpPr>
        <p:spPr>
          <a:xfrm>
            <a:off x="2811780" y="2350008"/>
            <a:ext cx="1440180" cy="484632"/>
          </a:xfrm>
          <a:prstGeom prst="rect">
            <a:avLst/>
          </a:prstGeom>
          <a:noFill/>
          <a:ln/>
        </p:spPr>
        <p:txBody>
          <a:bodyPr wrap="square" lIns="0" tIns="0" rIns="0" bIns="0" rtlCol="0" anchor="t"/>
          <a:lstStyle/>
          <a:p>
            <a:pPr marL="0" indent="0">
              <a:buNone/>
            </a:pPr>
            <a:r>
              <a:rPr lang="en-US" sz="1400" dirty="0">
                <a:solidFill>
                  <a:schemeClr val="bg1"/>
                </a:solidFill>
              </a:rPr>
              <a:t>Career people</a:t>
            </a:r>
            <a:endParaRPr lang="en-US" sz="1400" dirty="0"/>
          </a:p>
        </p:txBody>
      </p:sp>
      <p:sp>
        <p:nvSpPr>
          <p:cNvPr id="12" name="Mentor seekers (guidance) tile"/>
          <p:cNvSpPr/>
          <p:nvPr/>
        </p:nvSpPr>
        <p:spPr>
          <a:xfrm>
            <a:off x="4709160" y="1691640"/>
            <a:ext cx="1805940" cy="1188720"/>
          </a:xfrm>
          <a:prstGeom prst="roundRect">
            <a:avLst>
              <a:gd name="adj" fmla="val 9231"/>
            </a:avLst>
          </a:prstGeom>
          <a:solidFill>
            <a:schemeClr val="tx2"/>
          </a:solidFill>
          <a:ln w="12700">
            <a:solidFill>
              <a:srgbClr val="3A3026"/>
            </a:solidFill>
            <a:prstDash val="solid"/>
          </a:ln>
        </p:spPr>
      </p:sp>
      <p:sp>
        <p:nvSpPr>
          <p:cNvPr id="13" name="Mentor seekers (guidance) icon circle"/>
          <p:cNvSpPr/>
          <p:nvPr/>
        </p:nvSpPr>
        <p:spPr>
          <a:xfrm>
            <a:off x="4892040" y="1856232"/>
            <a:ext cx="411480" cy="411480"/>
          </a:xfrm>
          <a:prstGeom prst="ellipse">
            <a:avLst/>
          </a:prstGeom>
          <a:solidFill>
            <a:schemeClr val="accent1"/>
          </a:solidFill>
          <a:ln/>
        </p:spPr>
      </p:sp>
      <p:pic>
        <p:nvPicPr>
          <p:cNvPr id="14" name="Mentor seekers (guidance) icon" descr="preencoded.png"/>
          <p:cNvPicPr>
            <a:picLocks noChangeAspect="1"/>
          </p:cNvPicPr>
          <p:nvPr/>
        </p:nvPicPr>
        <p:blipFill>
          <a:blip r:embed="rId5"/>
          <a:stretch>
            <a:fillRect/>
          </a:stretch>
        </p:blipFill>
        <p:spPr>
          <a:xfrm>
            <a:off x="4983480" y="1947672"/>
            <a:ext cx="228600" cy="228600"/>
          </a:xfrm>
          <a:prstGeom prst="rect">
            <a:avLst/>
          </a:prstGeom>
        </p:spPr>
      </p:pic>
      <p:sp>
        <p:nvSpPr>
          <p:cNvPr id="15" name="Mentor seekers (guidance) text"/>
          <p:cNvSpPr txBox="1"/>
          <p:nvPr/>
        </p:nvSpPr>
        <p:spPr>
          <a:xfrm>
            <a:off x="4892040" y="2350008"/>
            <a:ext cx="1440180" cy="484632"/>
          </a:xfrm>
          <a:prstGeom prst="rect">
            <a:avLst/>
          </a:prstGeom>
          <a:noFill/>
          <a:ln/>
        </p:spPr>
        <p:txBody>
          <a:bodyPr wrap="square" lIns="0" tIns="0" rIns="0" bIns="0" rtlCol="0" anchor="t"/>
          <a:lstStyle/>
          <a:p>
            <a:pPr marL="0" indent="0">
              <a:buNone/>
            </a:pPr>
            <a:r>
              <a:rPr lang="en-US" sz="1400" dirty="0">
                <a:solidFill>
                  <a:schemeClr val="bg1"/>
                </a:solidFill>
              </a:rPr>
              <a:t>Mentor seekers (guidance)</a:t>
            </a:r>
            <a:endParaRPr lang="en-US" sz="1400" dirty="0"/>
          </a:p>
        </p:txBody>
      </p:sp>
      <p:sp>
        <p:nvSpPr>
          <p:cNvPr id="16" name="Learners with limited income tile"/>
          <p:cNvSpPr/>
          <p:nvPr/>
        </p:nvSpPr>
        <p:spPr>
          <a:xfrm>
            <a:off x="6789420" y="1691640"/>
            <a:ext cx="1805940" cy="1188720"/>
          </a:xfrm>
          <a:prstGeom prst="roundRect">
            <a:avLst>
              <a:gd name="adj" fmla="val 9231"/>
            </a:avLst>
          </a:prstGeom>
          <a:solidFill>
            <a:schemeClr val="tx2"/>
          </a:solidFill>
          <a:ln w="12700">
            <a:solidFill>
              <a:srgbClr val="3A3026"/>
            </a:solidFill>
            <a:prstDash val="solid"/>
          </a:ln>
        </p:spPr>
      </p:sp>
      <p:sp>
        <p:nvSpPr>
          <p:cNvPr id="17" name="Learners with limited income icon circle"/>
          <p:cNvSpPr/>
          <p:nvPr/>
        </p:nvSpPr>
        <p:spPr>
          <a:xfrm>
            <a:off x="6972300" y="1856232"/>
            <a:ext cx="411480" cy="411480"/>
          </a:xfrm>
          <a:prstGeom prst="ellipse">
            <a:avLst/>
          </a:prstGeom>
          <a:solidFill>
            <a:schemeClr val="accent1"/>
          </a:solidFill>
          <a:ln/>
        </p:spPr>
      </p:sp>
      <p:pic>
        <p:nvPicPr>
          <p:cNvPr id="18" name="Learners with limited income icon" descr="preencoded.png"/>
          <p:cNvPicPr>
            <a:picLocks noChangeAspect="1"/>
          </p:cNvPicPr>
          <p:nvPr/>
        </p:nvPicPr>
        <p:blipFill>
          <a:blip r:embed="rId6"/>
          <a:stretch>
            <a:fillRect/>
          </a:stretch>
        </p:blipFill>
        <p:spPr>
          <a:xfrm>
            <a:off x="7063740" y="1947672"/>
            <a:ext cx="228600" cy="228600"/>
          </a:xfrm>
          <a:prstGeom prst="rect">
            <a:avLst/>
          </a:prstGeom>
        </p:spPr>
      </p:pic>
      <p:sp>
        <p:nvSpPr>
          <p:cNvPr id="19" name="Learners with limited income text"/>
          <p:cNvSpPr txBox="1"/>
          <p:nvPr/>
        </p:nvSpPr>
        <p:spPr>
          <a:xfrm>
            <a:off x="6972300" y="2350008"/>
            <a:ext cx="1440180" cy="484632"/>
          </a:xfrm>
          <a:prstGeom prst="rect">
            <a:avLst/>
          </a:prstGeom>
          <a:noFill/>
          <a:ln/>
        </p:spPr>
        <p:txBody>
          <a:bodyPr wrap="square" lIns="0" tIns="0" rIns="0" bIns="0" rtlCol="0" anchor="t"/>
          <a:lstStyle/>
          <a:p>
            <a:pPr marL="0" indent="0">
              <a:buNone/>
            </a:pPr>
            <a:r>
              <a:rPr lang="en-US" sz="1400" dirty="0">
                <a:solidFill>
                  <a:schemeClr val="bg1"/>
                </a:solidFill>
              </a:rPr>
              <a:t>Learners with limited income</a:t>
            </a:r>
            <a:endParaRPr lang="en-US" sz="1400" dirty="0"/>
          </a:p>
        </p:txBody>
      </p:sp>
      <p:sp>
        <p:nvSpPr>
          <p:cNvPr id="20" name="How they learn label"/>
          <p:cNvSpPr txBox="1"/>
          <p:nvPr/>
        </p:nvSpPr>
        <p:spPr>
          <a:xfrm>
            <a:off x="548640" y="3108960"/>
            <a:ext cx="8046720" cy="274320"/>
          </a:xfrm>
          <a:prstGeom prst="rect">
            <a:avLst/>
          </a:prstGeom>
          <a:noFill/>
          <a:ln/>
        </p:spPr>
        <p:txBody>
          <a:bodyPr wrap="square" lIns="0" tIns="0" rIns="0" bIns="0" rtlCol="0" anchor="b"/>
          <a:lstStyle/>
          <a:p>
            <a:pPr marL="0" indent="0">
              <a:buNone/>
            </a:pPr>
            <a:r>
              <a:rPr lang="en-US" sz="1400" b="1" dirty="0">
                <a:solidFill>
                  <a:schemeClr val="accent1"/>
                </a:solidFill>
              </a:rPr>
              <a:t>How they learn</a:t>
            </a:r>
            <a:endParaRPr lang="en-US" sz="1400" dirty="0"/>
          </a:p>
        </p:txBody>
      </p:sp>
      <p:sp>
        <p:nvSpPr>
          <p:cNvPr id="21" name="Visual learners tile"/>
          <p:cNvSpPr/>
          <p:nvPr/>
        </p:nvSpPr>
        <p:spPr>
          <a:xfrm>
            <a:off x="548640" y="3429000"/>
            <a:ext cx="1805940" cy="1188720"/>
          </a:xfrm>
          <a:prstGeom prst="roundRect">
            <a:avLst>
              <a:gd name="adj" fmla="val 9231"/>
            </a:avLst>
          </a:prstGeom>
          <a:solidFill>
            <a:schemeClr val="tx2"/>
          </a:solidFill>
          <a:ln w="12700">
            <a:solidFill>
              <a:srgbClr val="3A3026"/>
            </a:solidFill>
            <a:prstDash val="solid"/>
          </a:ln>
        </p:spPr>
      </p:sp>
      <p:sp>
        <p:nvSpPr>
          <p:cNvPr id="22" name="Visual learners icon circle"/>
          <p:cNvSpPr/>
          <p:nvPr/>
        </p:nvSpPr>
        <p:spPr>
          <a:xfrm>
            <a:off x="731520" y="3593592"/>
            <a:ext cx="411480" cy="411480"/>
          </a:xfrm>
          <a:prstGeom prst="ellipse">
            <a:avLst/>
          </a:prstGeom>
          <a:solidFill>
            <a:schemeClr val="accent1"/>
          </a:solidFill>
          <a:ln/>
        </p:spPr>
      </p:sp>
      <p:pic>
        <p:nvPicPr>
          <p:cNvPr id="23" name="Visual learners icon" descr="preencoded.png"/>
          <p:cNvPicPr>
            <a:picLocks noChangeAspect="1"/>
          </p:cNvPicPr>
          <p:nvPr/>
        </p:nvPicPr>
        <p:blipFill>
          <a:blip r:embed="rId7"/>
          <a:stretch>
            <a:fillRect/>
          </a:stretch>
        </p:blipFill>
        <p:spPr>
          <a:xfrm>
            <a:off x="822960" y="3685032"/>
            <a:ext cx="228600" cy="228600"/>
          </a:xfrm>
          <a:prstGeom prst="rect">
            <a:avLst/>
          </a:prstGeom>
        </p:spPr>
      </p:pic>
      <p:sp>
        <p:nvSpPr>
          <p:cNvPr id="24" name="Visual learners text"/>
          <p:cNvSpPr txBox="1"/>
          <p:nvPr/>
        </p:nvSpPr>
        <p:spPr>
          <a:xfrm>
            <a:off x="731520" y="4087368"/>
            <a:ext cx="1440180" cy="484632"/>
          </a:xfrm>
          <a:prstGeom prst="rect">
            <a:avLst/>
          </a:prstGeom>
          <a:noFill/>
          <a:ln/>
        </p:spPr>
        <p:txBody>
          <a:bodyPr wrap="square" lIns="0" tIns="0" rIns="0" bIns="0" rtlCol="0" anchor="t"/>
          <a:lstStyle/>
          <a:p>
            <a:pPr marL="0" indent="0">
              <a:buNone/>
            </a:pPr>
            <a:r>
              <a:rPr lang="en-US" sz="1400" dirty="0">
                <a:solidFill>
                  <a:schemeClr val="bg1"/>
                </a:solidFill>
              </a:rPr>
              <a:t>Visual learners</a:t>
            </a:r>
            <a:endParaRPr lang="en-US" sz="1400" dirty="0"/>
          </a:p>
        </p:txBody>
      </p:sp>
      <p:sp>
        <p:nvSpPr>
          <p:cNvPr id="25" name="Auditory learners tile"/>
          <p:cNvSpPr/>
          <p:nvPr/>
        </p:nvSpPr>
        <p:spPr>
          <a:xfrm>
            <a:off x="2628900" y="3429000"/>
            <a:ext cx="1805940" cy="1188720"/>
          </a:xfrm>
          <a:prstGeom prst="roundRect">
            <a:avLst>
              <a:gd name="adj" fmla="val 9231"/>
            </a:avLst>
          </a:prstGeom>
          <a:solidFill>
            <a:schemeClr val="tx2"/>
          </a:solidFill>
          <a:ln w="12700">
            <a:solidFill>
              <a:srgbClr val="3A3026"/>
            </a:solidFill>
            <a:prstDash val="solid"/>
          </a:ln>
        </p:spPr>
      </p:sp>
      <p:sp>
        <p:nvSpPr>
          <p:cNvPr id="26" name="Auditory learners icon circle"/>
          <p:cNvSpPr/>
          <p:nvPr/>
        </p:nvSpPr>
        <p:spPr>
          <a:xfrm>
            <a:off x="2811780" y="3593592"/>
            <a:ext cx="411480" cy="411480"/>
          </a:xfrm>
          <a:prstGeom prst="ellipse">
            <a:avLst/>
          </a:prstGeom>
          <a:solidFill>
            <a:schemeClr val="accent1"/>
          </a:solidFill>
          <a:ln/>
        </p:spPr>
      </p:sp>
      <p:pic>
        <p:nvPicPr>
          <p:cNvPr id="27" name="Auditory learners icon" descr="preencoded.png"/>
          <p:cNvPicPr>
            <a:picLocks noChangeAspect="1"/>
          </p:cNvPicPr>
          <p:nvPr/>
        </p:nvPicPr>
        <p:blipFill>
          <a:blip r:embed="rId8"/>
          <a:stretch>
            <a:fillRect/>
          </a:stretch>
        </p:blipFill>
        <p:spPr>
          <a:xfrm>
            <a:off x="2903220" y="3685032"/>
            <a:ext cx="228600" cy="228600"/>
          </a:xfrm>
          <a:prstGeom prst="rect">
            <a:avLst/>
          </a:prstGeom>
        </p:spPr>
      </p:pic>
      <p:sp>
        <p:nvSpPr>
          <p:cNvPr id="28" name="Auditory learners text"/>
          <p:cNvSpPr txBox="1"/>
          <p:nvPr/>
        </p:nvSpPr>
        <p:spPr>
          <a:xfrm>
            <a:off x="2811780" y="4087368"/>
            <a:ext cx="1440180" cy="484632"/>
          </a:xfrm>
          <a:prstGeom prst="rect">
            <a:avLst/>
          </a:prstGeom>
          <a:noFill/>
          <a:ln/>
        </p:spPr>
        <p:txBody>
          <a:bodyPr wrap="square" lIns="0" tIns="0" rIns="0" bIns="0" rtlCol="0" anchor="t"/>
          <a:lstStyle/>
          <a:p>
            <a:pPr marL="0" indent="0">
              <a:buNone/>
            </a:pPr>
            <a:r>
              <a:rPr lang="en-US" sz="1400" dirty="0">
                <a:solidFill>
                  <a:schemeClr val="bg1"/>
                </a:solidFill>
              </a:rPr>
              <a:t>Auditory learners</a:t>
            </a:r>
            <a:endParaRPr lang="en-US" sz="1400" dirty="0"/>
          </a:p>
        </p:txBody>
      </p:sp>
      <p:sp>
        <p:nvSpPr>
          <p:cNvPr id="29" name="Reading/writing learners tile"/>
          <p:cNvSpPr/>
          <p:nvPr/>
        </p:nvSpPr>
        <p:spPr>
          <a:xfrm>
            <a:off x="4709160" y="3429000"/>
            <a:ext cx="1805940" cy="1188720"/>
          </a:xfrm>
          <a:prstGeom prst="roundRect">
            <a:avLst>
              <a:gd name="adj" fmla="val 9231"/>
            </a:avLst>
          </a:prstGeom>
          <a:solidFill>
            <a:schemeClr val="tx2"/>
          </a:solidFill>
          <a:ln w="12700">
            <a:solidFill>
              <a:srgbClr val="3A3026"/>
            </a:solidFill>
            <a:prstDash val="solid"/>
          </a:ln>
        </p:spPr>
      </p:sp>
      <p:sp>
        <p:nvSpPr>
          <p:cNvPr id="30" name="Reading/writing learners icon circle"/>
          <p:cNvSpPr/>
          <p:nvPr/>
        </p:nvSpPr>
        <p:spPr>
          <a:xfrm>
            <a:off x="4892040" y="3593592"/>
            <a:ext cx="411480" cy="411480"/>
          </a:xfrm>
          <a:prstGeom prst="ellipse">
            <a:avLst/>
          </a:prstGeom>
          <a:solidFill>
            <a:schemeClr val="accent1"/>
          </a:solidFill>
          <a:ln/>
        </p:spPr>
      </p:sp>
      <p:pic>
        <p:nvPicPr>
          <p:cNvPr id="31" name="Reading/writing learners icon" descr="preencoded.png"/>
          <p:cNvPicPr>
            <a:picLocks noChangeAspect="1"/>
          </p:cNvPicPr>
          <p:nvPr/>
        </p:nvPicPr>
        <p:blipFill>
          <a:blip r:embed="rId9"/>
          <a:stretch>
            <a:fillRect/>
          </a:stretch>
        </p:blipFill>
        <p:spPr>
          <a:xfrm>
            <a:off x="4983480" y="3685032"/>
            <a:ext cx="228600" cy="228600"/>
          </a:xfrm>
          <a:prstGeom prst="rect">
            <a:avLst/>
          </a:prstGeom>
        </p:spPr>
      </p:pic>
      <p:sp>
        <p:nvSpPr>
          <p:cNvPr id="32" name="Reading/writing learners text"/>
          <p:cNvSpPr txBox="1"/>
          <p:nvPr/>
        </p:nvSpPr>
        <p:spPr>
          <a:xfrm>
            <a:off x="4892040" y="4087368"/>
            <a:ext cx="1440180" cy="484632"/>
          </a:xfrm>
          <a:prstGeom prst="rect">
            <a:avLst/>
          </a:prstGeom>
          <a:noFill/>
          <a:ln/>
        </p:spPr>
        <p:txBody>
          <a:bodyPr wrap="square" lIns="0" tIns="0" rIns="0" bIns="0" rtlCol="0" anchor="t"/>
          <a:lstStyle/>
          <a:p>
            <a:pPr marL="0" indent="0">
              <a:buNone/>
            </a:pPr>
            <a:r>
              <a:rPr lang="en-US" sz="1400" dirty="0">
                <a:solidFill>
                  <a:schemeClr val="bg1"/>
                </a:solidFill>
              </a:rPr>
              <a:t>Reading/writing learners</a:t>
            </a:r>
            <a:endParaRPr lang="en-US" sz="1400" dirty="0"/>
          </a:p>
        </p:txBody>
      </p:sp>
      <p:sp>
        <p:nvSpPr>
          <p:cNvPr id="33" name="Kinesthetic learners tile"/>
          <p:cNvSpPr/>
          <p:nvPr/>
        </p:nvSpPr>
        <p:spPr>
          <a:xfrm>
            <a:off x="6789420" y="3429000"/>
            <a:ext cx="1805940" cy="1188720"/>
          </a:xfrm>
          <a:prstGeom prst="roundRect">
            <a:avLst>
              <a:gd name="adj" fmla="val 9231"/>
            </a:avLst>
          </a:prstGeom>
          <a:solidFill>
            <a:schemeClr val="tx2"/>
          </a:solidFill>
          <a:ln w="12700">
            <a:solidFill>
              <a:srgbClr val="3A3026"/>
            </a:solidFill>
            <a:prstDash val="solid"/>
          </a:ln>
        </p:spPr>
      </p:sp>
      <p:sp>
        <p:nvSpPr>
          <p:cNvPr id="34" name="Kinesthetic learners icon circle"/>
          <p:cNvSpPr/>
          <p:nvPr/>
        </p:nvSpPr>
        <p:spPr>
          <a:xfrm>
            <a:off x="6972300" y="3593592"/>
            <a:ext cx="411480" cy="411480"/>
          </a:xfrm>
          <a:prstGeom prst="ellipse">
            <a:avLst/>
          </a:prstGeom>
          <a:solidFill>
            <a:schemeClr val="accent1"/>
          </a:solidFill>
          <a:ln/>
        </p:spPr>
      </p:sp>
      <p:pic>
        <p:nvPicPr>
          <p:cNvPr id="35" name="Kinesthetic learners icon" descr="preencoded.png"/>
          <p:cNvPicPr>
            <a:picLocks noChangeAspect="1"/>
          </p:cNvPicPr>
          <p:nvPr/>
        </p:nvPicPr>
        <p:blipFill>
          <a:blip r:embed="rId10"/>
          <a:stretch>
            <a:fillRect/>
          </a:stretch>
        </p:blipFill>
        <p:spPr>
          <a:xfrm>
            <a:off x="7063740" y="3685032"/>
            <a:ext cx="228600" cy="228600"/>
          </a:xfrm>
          <a:prstGeom prst="rect">
            <a:avLst/>
          </a:prstGeom>
        </p:spPr>
      </p:pic>
      <p:sp>
        <p:nvSpPr>
          <p:cNvPr id="36" name="Kinesthetic learners text"/>
          <p:cNvSpPr txBox="1"/>
          <p:nvPr/>
        </p:nvSpPr>
        <p:spPr>
          <a:xfrm>
            <a:off x="6972300" y="4087368"/>
            <a:ext cx="1440180" cy="484632"/>
          </a:xfrm>
          <a:prstGeom prst="rect">
            <a:avLst/>
          </a:prstGeom>
          <a:noFill/>
          <a:ln/>
        </p:spPr>
        <p:txBody>
          <a:bodyPr wrap="square" lIns="0" tIns="0" rIns="0" bIns="0" rtlCol="0" anchor="t"/>
          <a:lstStyle/>
          <a:p>
            <a:pPr marL="0" indent="0">
              <a:buNone/>
            </a:pPr>
            <a:r>
              <a:rPr lang="en-US" sz="1400" dirty="0">
                <a:solidFill>
                  <a:schemeClr val="bg1"/>
                </a:solidFill>
              </a:rPr>
              <a:t>Kinesthetic learners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1097280"/>
          </a:xfrm>
          <a:prstGeom prst="rect">
            <a:avLst/>
          </a:prstGeom>
          <a:noFill/>
          <a:ln/>
        </p:spPr>
        <p:txBody>
          <a:bodyPr wrap="square" lIns="0" tIns="0" rIns="0" bIns="0" rtlCol="0" anchor="t"/>
          <a:lstStyle/>
          <a:p>
            <a:pPr marL="0" indent="0" algn="l">
              <a:buNone/>
            </a:pPr>
            <a:r>
              <a:rPr lang="en-US" sz="3600" b="1" dirty="0">
                <a:solidFill>
                  <a:schemeClr val="bg1"/>
                </a:solidFill>
              </a:rPr>
              <a:t>Core MVP functionalities</a:t>
            </a:r>
            <a:endParaRPr lang="en-US" sz="3600" dirty="0"/>
          </a:p>
        </p:txBody>
      </p:sp>
      <p:sp>
        <p:nvSpPr>
          <p:cNvPr id="3" name="Whiteboard card"/>
          <p:cNvSpPr/>
          <p:nvPr/>
        </p:nvSpPr>
        <p:spPr>
          <a:xfrm>
            <a:off x="548640" y="1188720"/>
            <a:ext cx="3886200" cy="640080"/>
          </a:xfrm>
          <a:prstGeom prst="roundRect">
            <a:avLst>
              <a:gd name="adj" fmla="val 17143"/>
            </a:avLst>
          </a:prstGeom>
          <a:solidFill>
            <a:schemeClr val="tx2"/>
          </a:solidFill>
          <a:ln w="12700">
            <a:solidFill>
              <a:srgbClr val="3A3026"/>
            </a:solidFill>
            <a:prstDash val="solid"/>
          </a:ln>
        </p:spPr>
      </p:sp>
      <p:sp>
        <p:nvSpPr>
          <p:cNvPr id="4" name="Whiteboard icon circle"/>
          <p:cNvSpPr/>
          <p:nvPr/>
        </p:nvSpPr>
        <p:spPr>
          <a:xfrm>
            <a:off x="731520" y="1307592"/>
            <a:ext cx="402336" cy="402336"/>
          </a:xfrm>
          <a:prstGeom prst="ellipse">
            <a:avLst/>
          </a:prstGeom>
          <a:solidFill>
            <a:schemeClr val="accent1"/>
          </a:solidFill>
          <a:ln/>
        </p:spPr>
      </p:sp>
      <p:pic>
        <p:nvPicPr>
          <p:cNvPr id="5" name="Whiteboard icon" descr="preencoded.png"/>
          <p:cNvPicPr>
            <a:picLocks noChangeAspect="1"/>
          </p:cNvPicPr>
          <p:nvPr/>
        </p:nvPicPr>
        <p:blipFill>
          <a:blip r:embed="rId3"/>
          <a:stretch>
            <a:fillRect/>
          </a:stretch>
        </p:blipFill>
        <p:spPr>
          <a:xfrm>
            <a:off x="822960" y="1399032"/>
            <a:ext cx="219456" cy="219456"/>
          </a:xfrm>
          <a:prstGeom prst="rect">
            <a:avLst/>
          </a:prstGeom>
        </p:spPr>
      </p:pic>
      <p:sp>
        <p:nvSpPr>
          <p:cNvPr id="6" name="Whiteboard text"/>
          <p:cNvSpPr txBox="1"/>
          <p:nvPr/>
        </p:nvSpPr>
        <p:spPr>
          <a:xfrm>
            <a:off x="1362456" y="1188720"/>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Whiteboard</a:t>
            </a:r>
            <a:endParaRPr lang="en-US" sz="1500" dirty="0"/>
          </a:p>
        </p:txBody>
      </p:sp>
      <p:sp>
        <p:nvSpPr>
          <p:cNvPr id="7" name="Illustrations and animations card"/>
          <p:cNvSpPr/>
          <p:nvPr/>
        </p:nvSpPr>
        <p:spPr>
          <a:xfrm>
            <a:off x="548640" y="1901952"/>
            <a:ext cx="3886200" cy="640080"/>
          </a:xfrm>
          <a:prstGeom prst="roundRect">
            <a:avLst>
              <a:gd name="adj" fmla="val 17143"/>
            </a:avLst>
          </a:prstGeom>
          <a:solidFill>
            <a:schemeClr val="tx2"/>
          </a:solidFill>
          <a:ln w="12700">
            <a:solidFill>
              <a:srgbClr val="3A3026"/>
            </a:solidFill>
            <a:prstDash val="solid"/>
          </a:ln>
        </p:spPr>
      </p:sp>
      <p:sp>
        <p:nvSpPr>
          <p:cNvPr id="8" name="Illustrations and animations icon circle"/>
          <p:cNvSpPr/>
          <p:nvPr/>
        </p:nvSpPr>
        <p:spPr>
          <a:xfrm>
            <a:off x="731520" y="2020824"/>
            <a:ext cx="402336" cy="402336"/>
          </a:xfrm>
          <a:prstGeom prst="ellipse">
            <a:avLst/>
          </a:prstGeom>
          <a:solidFill>
            <a:schemeClr val="accent1"/>
          </a:solidFill>
          <a:ln/>
        </p:spPr>
      </p:sp>
      <p:pic>
        <p:nvPicPr>
          <p:cNvPr id="9" name="Illustrations and animations icon" descr="preencoded.png"/>
          <p:cNvPicPr>
            <a:picLocks noChangeAspect="1"/>
          </p:cNvPicPr>
          <p:nvPr/>
        </p:nvPicPr>
        <p:blipFill>
          <a:blip r:embed="rId4"/>
          <a:stretch>
            <a:fillRect/>
          </a:stretch>
        </p:blipFill>
        <p:spPr>
          <a:xfrm>
            <a:off x="822960" y="2112264"/>
            <a:ext cx="219456" cy="219456"/>
          </a:xfrm>
          <a:prstGeom prst="rect">
            <a:avLst/>
          </a:prstGeom>
        </p:spPr>
      </p:pic>
      <p:sp>
        <p:nvSpPr>
          <p:cNvPr id="10" name="Illustrations and animations text"/>
          <p:cNvSpPr txBox="1"/>
          <p:nvPr/>
        </p:nvSpPr>
        <p:spPr>
          <a:xfrm>
            <a:off x="1362456" y="1901952"/>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Illustrations and animations</a:t>
            </a:r>
            <a:endParaRPr lang="en-US" sz="1500" dirty="0"/>
          </a:p>
        </p:txBody>
      </p:sp>
      <p:sp>
        <p:nvSpPr>
          <p:cNvPr id="11" name="Quiz card"/>
          <p:cNvSpPr/>
          <p:nvPr/>
        </p:nvSpPr>
        <p:spPr>
          <a:xfrm>
            <a:off x="548640" y="2615184"/>
            <a:ext cx="3886200" cy="640080"/>
          </a:xfrm>
          <a:prstGeom prst="roundRect">
            <a:avLst>
              <a:gd name="adj" fmla="val 17143"/>
            </a:avLst>
          </a:prstGeom>
          <a:solidFill>
            <a:schemeClr val="tx2"/>
          </a:solidFill>
          <a:ln w="12700">
            <a:solidFill>
              <a:srgbClr val="3A3026"/>
            </a:solidFill>
            <a:prstDash val="solid"/>
          </a:ln>
        </p:spPr>
      </p:sp>
      <p:sp>
        <p:nvSpPr>
          <p:cNvPr id="12" name="Quiz icon circle"/>
          <p:cNvSpPr/>
          <p:nvPr/>
        </p:nvSpPr>
        <p:spPr>
          <a:xfrm>
            <a:off x="731520" y="2734056"/>
            <a:ext cx="402336" cy="402336"/>
          </a:xfrm>
          <a:prstGeom prst="ellipse">
            <a:avLst/>
          </a:prstGeom>
          <a:solidFill>
            <a:schemeClr val="accent1"/>
          </a:solidFill>
          <a:ln/>
        </p:spPr>
      </p:sp>
      <p:pic>
        <p:nvPicPr>
          <p:cNvPr id="13" name="Quiz icon" descr="preencoded.png"/>
          <p:cNvPicPr>
            <a:picLocks noChangeAspect="1"/>
          </p:cNvPicPr>
          <p:nvPr/>
        </p:nvPicPr>
        <p:blipFill>
          <a:blip r:embed="rId5"/>
          <a:stretch>
            <a:fillRect/>
          </a:stretch>
        </p:blipFill>
        <p:spPr>
          <a:xfrm>
            <a:off x="822960" y="2825496"/>
            <a:ext cx="219456" cy="219456"/>
          </a:xfrm>
          <a:prstGeom prst="rect">
            <a:avLst/>
          </a:prstGeom>
        </p:spPr>
      </p:pic>
      <p:sp>
        <p:nvSpPr>
          <p:cNvPr id="14" name="Quiz text"/>
          <p:cNvSpPr txBox="1"/>
          <p:nvPr/>
        </p:nvSpPr>
        <p:spPr>
          <a:xfrm>
            <a:off x="1362456" y="2615184"/>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Quiz</a:t>
            </a:r>
            <a:endParaRPr lang="en-US" sz="1500" dirty="0"/>
          </a:p>
        </p:txBody>
      </p:sp>
      <p:sp>
        <p:nvSpPr>
          <p:cNvPr id="15" name="Resources card"/>
          <p:cNvSpPr/>
          <p:nvPr/>
        </p:nvSpPr>
        <p:spPr>
          <a:xfrm>
            <a:off x="548640" y="3328416"/>
            <a:ext cx="3886200" cy="640080"/>
          </a:xfrm>
          <a:prstGeom prst="roundRect">
            <a:avLst>
              <a:gd name="adj" fmla="val 17143"/>
            </a:avLst>
          </a:prstGeom>
          <a:solidFill>
            <a:schemeClr val="tx2"/>
          </a:solidFill>
          <a:ln w="12700">
            <a:solidFill>
              <a:srgbClr val="3A3026"/>
            </a:solidFill>
            <a:prstDash val="solid"/>
          </a:ln>
        </p:spPr>
      </p:sp>
      <p:sp>
        <p:nvSpPr>
          <p:cNvPr id="16" name="Resources icon circle"/>
          <p:cNvSpPr/>
          <p:nvPr/>
        </p:nvSpPr>
        <p:spPr>
          <a:xfrm>
            <a:off x="731520" y="3447288"/>
            <a:ext cx="402336" cy="402336"/>
          </a:xfrm>
          <a:prstGeom prst="ellipse">
            <a:avLst/>
          </a:prstGeom>
          <a:solidFill>
            <a:schemeClr val="accent1"/>
          </a:solidFill>
          <a:ln/>
        </p:spPr>
      </p:sp>
      <p:pic>
        <p:nvPicPr>
          <p:cNvPr id="17" name="Resources icon" descr="preencoded.png"/>
          <p:cNvPicPr>
            <a:picLocks noChangeAspect="1"/>
          </p:cNvPicPr>
          <p:nvPr/>
        </p:nvPicPr>
        <p:blipFill>
          <a:blip r:embed="rId6"/>
          <a:stretch>
            <a:fillRect/>
          </a:stretch>
        </p:blipFill>
        <p:spPr>
          <a:xfrm>
            <a:off x="822960" y="3538728"/>
            <a:ext cx="219456" cy="219456"/>
          </a:xfrm>
          <a:prstGeom prst="rect">
            <a:avLst/>
          </a:prstGeom>
        </p:spPr>
      </p:pic>
      <p:sp>
        <p:nvSpPr>
          <p:cNvPr id="18" name="Resources text"/>
          <p:cNvSpPr txBox="1"/>
          <p:nvPr/>
        </p:nvSpPr>
        <p:spPr>
          <a:xfrm>
            <a:off x="1362456" y="3328416"/>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Resources</a:t>
            </a:r>
            <a:endParaRPr lang="en-US" sz="1500" dirty="0"/>
          </a:p>
        </p:txBody>
      </p:sp>
      <p:sp>
        <p:nvSpPr>
          <p:cNvPr id="19" name="Flashcards card"/>
          <p:cNvSpPr/>
          <p:nvPr/>
        </p:nvSpPr>
        <p:spPr>
          <a:xfrm>
            <a:off x="548640" y="4041648"/>
            <a:ext cx="3886200" cy="640080"/>
          </a:xfrm>
          <a:prstGeom prst="roundRect">
            <a:avLst>
              <a:gd name="adj" fmla="val 17143"/>
            </a:avLst>
          </a:prstGeom>
          <a:solidFill>
            <a:schemeClr val="tx2"/>
          </a:solidFill>
          <a:ln w="12700">
            <a:solidFill>
              <a:srgbClr val="3A3026"/>
            </a:solidFill>
            <a:prstDash val="solid"/>
          </a:ln>
        </p:spPr>
      </p:sp>
      <p:sp>
        <p:nvSpPr>
          <p:cNvPr id="20" name="Flashcards icon circle"/>
          <p:cNvSpPr/>
          <p:nvPr/>
        </p:nvSpPr>
        <p:spPr>
          <a:xfrm>
            <a:off x="731520" y="4160520"/>
            <a:ext cx="402336" cy="402336"/>
          </a:xfrm>
          <a:prstGeom prst="ellipse">
            <a:avLst/>
          </a:prstGeom>
          <a:solidFill>
            <a:schemeClr val="accent1"/>
          </a:solidFill>
          <a:ln/>
        </p:spPr>
      </p:sp>
      <p:pic>
        <p:nvPicPr>
          <p:cNvPr id="21" name="Flashcards icon" descr="preencoded.png"/>
          <p:cNvPicPr>
            <a:picLocks noChangeAspect="1"/>
          </p:cNvPicPr>
          <p:nvPr/>
        </p:nvPicPr>
        <p:blipFill>
          <a:blip r:embed="rId7"/>
          <a:stretch>
            <a:fillRect/>
          </a:stretch>
        </p:blipFill>
        <p:spPr>
          <a:xfrm>
            <a:off x="822960" y="4251960"/>
            <a:ext cx="219456" cy="219456"/>
          </a:xfrm>
          <a:prstGeom prst="rect">
            <a:avLst/>
          </a:prstGeom>
        </p:spPr>
      </p:pic>
      <p:sp>
        <p:nvSpPr>
          <p:cNvPr id="22" name="Flashcards text"/>
          <p:cNvSpPr txBox="1"/>
          <p:nvPr/>
        </p:nvSpPr>
        <p:spPr>
          <a:xfrm>
            <a:off x="1362456" y="4041648"/>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Flashcards</a:t>
            </a:r>
            <a:endParaRPr lang="en-US" sz="1500" dirty="0"/>
          </a:p>
        </p:txBody>
      </p:sp>
      <p:sp>
        <p:nvSpPr>
          <p:cNvPr id="23" name="Memory card"/>
          <p:cNvSpPr/>
          <p:nvPr/>
        </p:nvSpPr>
        <p:spPr>
          <a:xfrm>
            <a:off x="4709160" y="1188720"/>
            <a:ext cx="3886200" cy="640080"/>
          </a:xfrm>
          <a:prstGeom prst="roundRect">
            <a:avLst>
              <a:gd name="adj" fmla="val 17143"/>
            </a:avLst>
          </a:prstGeom>
          <a:solidFill>
            <a:schemeClr val="tx2"/>
          </a:solidFill>
          <a:ln w="12700">
            <a:solidFill>
              <a:srgbClr val="3A3026"/>
            </a:solidFill>
            <a:prstDash val="solid"/>
          </a:ln>
        </p:spPr>
      </p:sp>
      <p:sp>
        <p:nvSpPr>
          <p:cNvPr id="24" name="Memory icon circle"/>
          <p:cNvSpPr/>
          <p:nvPr/>
        </p:nvSpPr>
        <p:spPr>
          <a:xfrm>
            <a:off x="4892040" y="1307592"/>
            <a:ext cx="402336" cy="402336"/>
          </a:xfrm>
          <a:prstGeom prst="ellipse">
            <a:avLst/>
          </a:prstGeom>
          <a:solidFill>
            <a:schemeClr val="accent1"/>
          </a:solidFill>
          <a:ln/>
        </p:spPr>
      </p:sp>
      <p:pic>
        <p:nvPicPr>
          <p:cNvPr id="25" name="Memory icon" descr="preencoded.png"/>
          <p:cNvPicPr>
            <a:picLocks noChangeAspect="1"/>
          </p:cNvPicPr>
          <p:nvPr/>
        </p:nvPicPr>
        <p:blipFill>
          <a:blip r:embed="rId8"/>
          <a:stretch>
            <a:fillRect/>
          </a:stretch>
        </p:blipFill>
        <p:spPr>
          <a:xfrm>
            <a:off x="4983480" y="1399032"/>
            <a:ext cx="219456" cy="219456"/>
          </a:xfrm>
          <a:prstGeom prst="rect">
            <a:avLst/>
          </a:prstGeom>
        </p:spPr>
      </p:pic>
      <p:sp>
        <p:nvSpPr>
          <p:cNvPr id="26" name="Memory text"/>
          <p:cNvSpPr txBox="1"/>
          <p:nvPr/>
        </p:nvSpPr>
        <p:spPr>
          <a:xfrm>
            <a:off x="5522976" y="1188720"/>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Memory</a:t>
            </a:r>
            <a:endParaRPr lang="en-US" sz="1500" dirty="0"/>
          </a:p>
          <a:p>
            <a:pPr marL="0" indent="0">
              <a:buNone/>
            </a:pPr>
            <a:r>
              <a:rPr lang="en-US" sz="1100" dirty="0">
                <a:solidFill>
                  <a:schemeClr val="bg2"/>
                </a:solidFill>
              </a:rPr>
              <a:t>Milestones, info about the user, their struggles and strengths</a:t>
            </a:r>
            <a:endParaRPr lang="en-US" sz="1500" dirty="0"/>
          </a:p>
        </p:txBody>
      </p:sp>
      <p:sp>
        <p:nvSpPr>
          <p:cNvPr id="27" name="Stored artifacts card"/>
          <p:cNvSpPr/>
          <p:nvPr/>
        </p:nvSpPr>
        <p:spPr>
          <a:xfrm>
            <a:off x="4709160" y="1901952"/>
            <a:ext cx="3886200" cy="640080"/>
          </a:xfrm>
          <a:prstGeom prst="roundRect">
            <a:avLst>
              <a:gd name="adj" fmla="val 17143"/>
            </a:avLst>
          </a:prstGeom>
          <a:solidFill>
            <a:schemeClr val="tx2"/>
          </a:solidFill>
          <a:ln w="12700">
            <a:solidFill>
              <a:srgbClr val="3A3026"/>
            </a:solidFill>
            <a:prstDash val="solid"/>
          </a:ln>
        </p:spPr>
      </p:sp>
      <p:sp>
        <p:nvSpPr>
          <p:cNvPr id="28" name="Stored artifacts icon circle"/>
          <p:cNvSpPr/>
          <p:nvPr/>
        </p:nvSpPr>
        <p:spPr>
          <a:xfrm>
            <a:off x="4892040" y="2020824"/>
            <a:ext cx="402336" cy="402336"/>
          </a:xfrm>
          <a:prstGeom prst="ellipse">
            <a:avLst/>
          </a:prstGeom>
          <a:solidFill>
            <a:schemeClr val="accent1"/>
          </a:solidFill>
          <a:ln/>
        </p:spPr>
      </p:sp>
      <p:pic>
        <p:nvPicPr>
          <p:cNvPr id="29" name="Stored artifacts icon" descr="preencoded.png"/>
          <p:cNvPicPr>
            <a:picLocks noChangeAspect="1"/>
          </p:cNvPicPr>
          <p:nvPr/>
        </p:nvPicPr>
        <p:blipFill>
          <a:blip r:embed="rId9"/>
          <a:stretch>
            <a:fillRect/>
          </a:stretch>
        </p:blipFill>
        <p:spPr>
          <a:xfrm>
            <a:off x="4983480" y="2112264"/>
            <a:ext cx="219456" cy="219456"/>
          </a:xfrm>
          <a:prstGeom prst="rect">
            <a:avLst/>
          </a:prstGeom>
        </p:spPr>
      </p:pic>
      <p:sp>
        <p:nvSpPr>
          <p:cNvPr id="30" name="Stored artifacts text"/>
          <p:cNvSpPr txBox="1"/>
          <p:nvPr/>
        </p:nvSpPr>
        <p:spPr>
          <a:xfrm>
            <a:off x="5522976" y="1901952"/>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Stored artifacts</a:t>
            </a:r>
            <a:endParaRPr lang="en-US" sz="1500" dirty="0"/>
          </a:p>
        </p:txBody>
      </p:sp>
      <p:sp>
        <p:nvSpPr>
          <p:cNvPr id="31" name="Sign in card"/>
          <p:cNvSpPr/>
          <p:nvPr/>
        </p:nvSpPr>
        <p:spPr>
          <a:xfrm>
            <a:off x="4709160" y="2615184"/>
            <a:ext cx="3886200" cy="640080"/>
          </a:xfrm>
          <a:prstGeom prst="roundRect">
            <a:avLst>
              <a:gd name="adj" fmla="val 17143"/>
            </a:avLst>
          </a:prstGeom>
          <a:solidFill>
            <a:schemeClr val="tx2"/>
          </a:solidFill>
          <a:ln w="12700">
            <a:solidFill>
              <a:srgbClr val="3A3026"/>
            </a:solidFill>
            <a:prstDash val="solid"/>
          </a:ln>
        </p:spPr>
      </p:sp>
      <p:sp>
        <p:nvSpPr>
          <p:cNvPr id="32" name="Sign in icon circle"/>
          <p:cNvSpPr/>
          <p:nvPr/>
        </p:nvSpPr>
        <p:spPr>
          <a:xfrm>
            <a:off x="4892040" y="2734056"/>
            <a:ext cx="402336" cy="402336"/>
          </a:xfrm>
          <a:prstGeom prst="ellipse">
            <a:avLst/>
          </a:prstGeom>
          <a:solidFill>
            <a:schemeClr val="accent1"/>
          </a:solidFill>
          <a:ln/>
        </p:spPr>
      </p:sp>
      <p:pic>
        <p:nvPicPr>
          <p:cNvPr id="33" name="Sign in icon" descr="preencoded.png"/>
          <p:cNvPicPr>
            <a:picLocks noChangeAspect="1"/>
          </p:cNvPicPr>
          <p:nvPr/>
        </p:nvPicPr>
        <p:blipFill>
          <a:blip r:embed="rId10"/>
          <a:stretch>
            <a:fillRect/>
          </a:stretch>
        </p:blipFill>
        <p:spPr>
          <a:xfrm>
            <a:off x="4983480" y="2825496"/>
            <a:ext cx="219456" cy="219456"/>
          </a:xfrm>
          <a:prstGeom prst="rect">
            <a:avLst/>
          </a:prstGeom>
        </p:spPr>
      </p:pic>
      <p:sp>
        <p:nvSpPr>
          <p:cNvPr id="34" name="Sign in text"/>
          <p:cNvSpPr txBox="1"/>
          <p:nvPr/>
        </p:nvSpPr>
        <p:spPr>
          <a:xfrm>
            <a:off x="5522976" y="2615184"/>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Sign in</a:t>
            </a:r>
            <a:endParaRPr lang="en-US" sz="1500" dirty="0"/>
          </a:p>
        </p:txBody>
      </p:sp>
      <p:sp>
        <p:nvSpPr>
          <p:cNvPr id="35" name="Settings card"/>
          <p:cNvSpPr/>
          <p:nvPr/>
        </p:nvSpPr>
        <p:spPr>
          <a:xfrm>
            <a:off x="4709160" y="3328416"/>
            <a:ext cx="3886200" cy="640080"/>
          </a:xfrm>
          <a:prstGeom prst="roundRect">
            <a:avLst>
              <a:gd name="adj" fmla="val 17143"/>
            </a:avLst>
          </a:prstGeom>
          <a:solidFill>
            <a:schemeClr val="tx2"/>
          </a:solidFill>
          <a:ln w="12700">
            <a:solidFill>
              <a:srgbClr val="3A3026"/>
            </a:solidFill>
            <a:prstDash val="solid"/>
          </a:ln>
        </p:spPr>
      </p:sp>
      <p:sp>
        <p:nvSpPr>
          <p:cNvPr id="36" name="Settings icon circle"/>
          <p:cNvSpPr/>
          <p:nvPr/>
        </p:nvSpPr>
        <p:spPr>
          <a:xfrm>
            <a:off x="4892040" y="3447288"/>
            <a:ext cx="402336" cy="402336"/>
          </a:xfrm>
          <a:prstGeom prst="ellipse">
            <a:avLst/>
          </a:prstGeom>
          <a:solidFill>
            <a:schemeClr val="accent1"/>
          </a:solidFill>
          <a:ln/>
        </p:spPr>
      </p:sp>
      <p:pic>
        <p:nvPicPr>
          <p:cNvPr id="37" name="Settings icon" descr="preencoded.png"/>
          <p:cNvPicPr>
            <a:picLocks noChangeAspect="1"/>
          </p:cNvPicPr>
          <p:nvPr/>
        </p:nvPicPr>
        <p:blipFill>
          <a:blip r:embed="rId11"/>
          <a:stretch>
            <a:fillRect/>
          </a:stretch>
        </p:blipFill>
        <p:spPr>
          <a:xfrm>
            <a:off x="4983480" y="3538728"/>
            <a:ext cx="219456" cy="219456"/>
          </a:xfrm>
          <a:prstGeom prst="rect">
            <a:avLst/>
          </a:prstGeom>
        </p:spPr>
      </p:pic>
      <p:sp>
        <p:nvSpPr>
          <p:cNvPr id="38" name="Settings text"/>
          <p:cNvSpPr txBox="1"/>
          <p:nvPr/>
        </p:nvSpPr>
        <p:spPr>
          <a:xfrm>
            <a:off x="5522976" y="3328416"/>
            <a:ext cx="2889504" cy="640080"/>
          </a:xfrm>
          <a:prstGeom prst="rect">
            <a:avLst/>
          </a:prstGeom>
          <a:noFill/>
          <a:ln/>
        </p:spPr>
        <p:txBody>
          <a:bodyPr wrap="square" lIns="0" tIns="0" rIns="0" bIns="0" rtlCol="0" anchor="ctr"/>
          <a:lstStyle/>
          <a:p>
            <a:pPr marL="0" indent="0">
              <a:buNone/>
            </a:pPr>
            <a:r>
              <a:rPr lang="en-US" sz="1500" b="1" dirty="0">
                <a:solidFill>
                  <a:schemeClr val="bg1"/>
                </a:solidFill>
              </a:rPr>
              <a:t>Settings</a:t>
            </a:r>
            <a:endParaRPr lang="en-US" sz="1500" dirty="0"/>
          </a:p>
          <a:p>
            <a:pPr marL="0" indent="0">
              <a:buNone/>
            </a:pPr>
            <a:r>
              <a:rPr lang="en-US" sz="1100" dirty="0">
                <a:solidFill>
                  <a:schemeClr val="bg2"/>
                </a:solidFill>
              </a:rPr>
              <a:t>Appearance and profile</a:t>
            </a:r>
            <a:endParaRPr lang="en-US" sz="1500" dirty="0"/>
          </a:p>
        </p:txBody>
      </p:sp>
      <p:sp>
        <p:nvSpPr>
          <p:cNvPr id="39" name="Curriculum building card"/>
          <p:cNvSpPr/>
          <p:nvPr/>
        </p:nvSpPr>
        <p:spPr>
          <a:xfrm>
            <a:off x="4709160" y="4041648"/>
            <a:ext cx="3886200" cy="640080"/>
          </a:xfrm>
          <a:prstGeom prst="roundRect">
            <a:avLst>
              <a:gd name="adj" fmla="val 17143"/>
            </a:avLst>
          </a:prstGeom>
          <a:solidFill>
            <a:schemeClr val="tx2"/>
          </a:solidFill>
          <a:ln w="12700">
            <a:solidFill>
              <a:srgbClr val="3A3026"/>
            </a:solidFill>
            <a:prstDash val="solid"/>
          </a:ln>
        </p:spPr>
      </p:sp>
      <p:sp>
        <p:nvSpPr>
          <p:cNvPr id="40" name="Curriculum building icon circle"/>
          <p:cNvSpPr/>
          <p:nvPr/>
        </p:nvSpPr>
        <p:spPr>
          <a:xfrm>
            <a:off x="4892040" y="4160520"/>
            <a:ext cx="402336" cy="402336"/>
          </a:xfrm>
          <a:prstGeom prst="ellipse">
            <a:avLst/>
          </a:prstGeom>
          <a:solidFill>
            <a:schemeClr val="accent1"/>
          </a:solidFill>
          <a:ln/>
        </p:spPr>
      </p:sp>
      <p:pic>
        <p:nvPicPr>
          <p:cNvPr id="41" name="Curriculum building icon" descr="preencoded.png"/>
          <p:cNvPicPr>
            <a:picLocks noChangeAspect="1"/>
          </p:cNvPicPr>
          <p:nvPr/>
        </p:nvPicPr>
        <p:blipFill>
          <a:blip r:embed="rId12"/>
          <a:stretch>
            <a:fillRect/>
          </a:stretch>
        </p:blipFill>
        <p:spPr>
          <a:xfrm>
            <a:off x="4983480" y="4251960"/>
            <a:ext cx="219456" cy="219456"/>
          </a:xfrm>
          <a:prstGeom prst="rect">
            <a:avLst/>
          </a:prstGeom>
        </p:spPr>
      </p:pic>
      <p:sp>
        <p:nvSpPr>
          <p:cNvPr id="42" name="Curriculum building text"/>
          <p:cNvSpPr txBox="1"/>
          <p:nvPr/>
        </p:nvSpPr>
        <p:spPr>
          <a:xfrm>
            <a:off x="5522976" y="4041648"/>
            <a:ext cx="2203704" cy="640080"/>
          </a:xfrm>
          <a:prstGeom prst="rect">
            <a:avLst/>
          </a:prstGeom>
          <a:noFill/>
          <a:ln/>
        </p:spPr>
        <p:txBody>
          <a:bodyPr wrap="square" lIns="0" tIns="0" rIns="0" bIns="0" rtlCol="0" anchor="ctr"/>
          <a:lstStyle/>
          <a:p>
            <a:pPr marL="0" indent="0">
              <a:buNone/>
            </a:pPr>
            <a:r>
              <a:rPr lang="en-US" sz="1500" b="1" dirty="0">
                <a:solidFill>
                  <a:schemeClr val="bg1"/>
                </a:solidFill>
              </a:rPr>
              <a:t>Curriculum building</a:t>
            </a:r>
            <a:endParaRPr lang="en-US" sz="1500" dirty="0"/>
          </a:p>
        </p:txBody>
      </p:sp>
      <p:sp>
        <p:nvSpPr>
          <p:cNvPr id="43" name="Curriculum building badge"/>
          <p:cNvSpPr txBox="1"/>
          <p:nvPr/>
        </p:nvSpPr>
        <p:spPr>
          <a:xfrm>
            <a:off x="7818120" y="4242816"/>
            <a:ext cx="594360" cy="237744"/>
          </a:xfrm>
          <a:prstGeom prst="roundRect">
            <a:avLst>
              <a:gd name="adj" fmla="val 50000"/>
            </a:avLst>
          </a:prstGeom>
          <a:solidFill>
            <a:srgbClr val="2C241A"/>
          </a:solidFill>
          <a:ln/>
        </p:spPr>
        <p:txBody>
          <a:bodyPr wrap="square" lIns="0" tIns="0" rIns="0" bIns="0" rtlCol="0" anchor="ctr"/>
          <a:lstStyle/>
          <a:p>
            <a:pPr marL="0" indent="0" algn="ctr">
              <a:buNone/>
            </a:pPr>
            <a:r>
              <a:rPr lang="en-US" sz="1000" b="1" dirty="0">
                <a:solidFill>
                  <a:schemeClr val="bg2"/>
                </a:solidFill>
              </a:rPr>
              <a:t>TBD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1097280"/>
          </a:xfrm>
          <a:prstGeom prst="rect">
            <a:avLst/>
          </a:prstGeom>
          <a:noFill/>
          <a:ln/>
        </p:spPr>
        <p:txBody>
          <a:bodyPr wrap="square" lIns="0" tIns="0" rIns="0" bIns="0" rtlCol="0" anchor="t"/>
          <a:lstStyle/>
          <a:p>
            <a:pPr marL="0" indent="0" algn="l">
              <a:buNone/>
            </a:pPr>
            <a:r>
              <a:rPr lang="en-US" sz="3600" b="1" dirty="0">
                <a:solidFill>
                  <a:schemeClr val="bg1"/>
                </a:solidFill>
              </a:rPr>
              <a:t>UX/UI</a:t>
            </a:r>
            <a:endParaRPr lang="en-US" sz="3600" dirty="0"/>
          </a:p>
        </p:txBody>
      </p:sp>
      <p:sp>
        <p:nvSpPr>
          <p:cNvPr id="3" name="Meets WCAG AA at minimum tile"/>
          <p:cNvSpPr/>
          <p:nvPr/>
        </p:nvSpPr>
        <p:spPr>
          <a:xfrm>
            <a:off x="548640" y="1325880"/>
            <a:ext cx="2499360" cy="1463040"/>
          </a:xfrm>
          <a:prstGeom prst="roundRect">
            <a:avLst>
              <a:gd name="adj" fmla="val 7500"/>
            </a:avLst>
          </a:prstGeom>
          <a:solidFill>
            <a:schemeClr val="tx2"/>
          </a:solidFill>
          <a:ln w="12700">
            <a:solidFill>
              <a:srgbClr val="3A3026"/>
            </a:solidFill>
            <a:prstDash val="solid"/>
          </a:ln>
        </p:spPr>
      </p:sp>
      <p:sp>
        <p:nvSpPr>
          <p:cNvPr id="4" name="Meets WCAG AA at minimum icon circle"/>
          <p:cNvSpPr/>
          <p:nvPr/>
        </p:nvSpPr>
        <p:spPr>
          <a:xfrm>
            <a:off x="777240" y="1554480"/>
            <a:ext cx="502920" cy="502920"/>
          </a:xfrm>
          <a:prstGeom prst="ellipse">
            <a:avLst/>
          </a:prstGeom>
          <a:solidFill>
            <a:schemeClr val="accent1"/>
          </a:solidFill>
          <a:ln/>
        </p:spPr>
      </p:sp>
      <p:pic>
        <p:nvPicPr>
          <p:cNvPr id="5" name="Meets WCAG AA at minimum icon" descr="preencoded.png"/>
          <p:cNvPicPr>
            <a:picLocks noChangeAspect="1"/>
          </p:cNvPicPr>
          <p:nvPr/>
        </p:nvPicPr>
        <p:blipFill>
          <a:blip r:embed="rId3"/>
          <a:stretch>
            <a:fillRect/>
          </a:stretch>
        </p:blipFill>
        <p:spPr>
          <a:xfrm>
            <a:off x="896112" y="1673352"/>
            <a:ext cx="265176" cy="265176"/>
          </a:xfrm>
          <a:prstGeom prst="rect">
            <a:avLst/>
          </a:prstGeom>
        </p:spPr>
      </p:pic>
      <p:sp>
        <p:nvSpPr>
          <p:cNvPr id="6" name="Meets WCAG AA at minimum text"/>
          <p:cNvSpPr txBox="1"/>
          <p:nvPr/>
        </p:nvSpPr>
        <p:spPr>
          <a:xfrm>
            <a:off x="777240" y="2194560"/>
            <a:ext cx="2087880" cy="502920"/>
          </a:xfrm>
          <a:prstGeom prst="rect">
            <a:avLst/>
          </a:prstGeom>
          <a:noFill/>
          <a:ln/>
        </p:spPr>
        <p:txBody>
          <a:bodyPr wrap="square" lIns="0" tIns="0" rIns="0" bIns="0" rtlCol="0" anchor="t"/>
          <a:lstStyle/>
          <a:p>
            <a:pPr marL="0" indent="0">
              <a:buNone/>
            </a:pPr>
            <a:r>
              <a:rPr lang="en-US" sz="1600" dirty="0">
                <a:solidFill>
                  <a:schemeClr val="bg1"/>
                </a:solidFill>
              </a:rPr>
              <a:t>Meets WCAG AA at minimum</a:t>
            </a:r>
            <a:endParaRPr lang="en-US" sz="1600" dirty="0"/>
          </a:p>
        </p:txBody>
      </p:sp>
      <p:sp>
        <p:nvSpPr>
          <p:cNvPr id="7" name="Mobile-first design tile"/>
          <p:cNvSpPr/>
          <p:nvPr/>
        </p:nvSpPr>
        <p:spPr>
          <a:xfrm>
            <a:off x="3322320" y="1325880"/>
            <a:ext cx="2499360" cy="1463040"/>
          </a:xfrm>
          <a:prstGeom prst="roundRect">
            <a:avLst>
              <a:gd name="adj" fmla="val 7500"/>
            </a:avLst>
          </a:prstGeom>
          <a:solidFill>
            <a:schemeClr val="tx2"/>
          </a:solidFill>
          <a:ln w="12700">
            <a:solidFill>
              <a:srgbClr val="3A3026"/>
            </a:solidFill>
            <a:prstDash val="solid"/>
          </a:ln>
        </p:spPr>
      </p:sp>
      <p:sp>
        <p:nvSpPr>
          <p:cNvPr id="8" name="Mobile-first design icon circle"/>
          <p:cNvSpPr/>
          <p:nvPr/>
        </p:nvSpPr>
        <p:spPr>
          <a:xfrm>
            <a:off x="3550920" y="1554480"/>
            <a:ext cx="502920" cy="502920"/>
          </a:xfrm>
          <a:prstGeom prst="ellipse">
            <a:avLst/>
          </a:prstGeom>
          <a:solidFill>
            <a:schemeClr val="accent1"/>
          </a:solidFill>
          <a:ln/>
        </p:spPr>
      </p:sp>
      <p:pic>
        <p:nvPicPr>
          <p:cNvPr id="9" name="Mobile-first design icon" descr="preencoded.png"/>
          <p:cNvPicPr>
            <a:picLocks noChangeAspect="1"/>
          </p:cNvPicPr>
          <p:nvPr/>
        </p:nvPicPr>
        <p:blipFill>
          <a:blip r:embed="rId4"/>
          <a:stretch>
            <a:fillRect/>
          </a:stretch>
        </p:blipFill>
        <p:spPr>
          <a:xfrm>
            <a:off x="3669792" y="1673352"/>
            <a:ext cx="265176" cy="265176"/>
          </a:xfrm>
          <a:prstGeom prst="rect">
            <a:avLst/>
          </a:prstGeom>
        </p:spPr>
      </p:pic>
      <p:sp>
        <p:nvSpPr>
          <p:cNvPr id="10" name="Mobile-first design text"/>
          <p:cNvSpPr txBox="1"/>
          <p:nvPr/>
        </p:nvSpPr>
        <p:spPr>
          <a:xfrm>
            <a:off x="3550920" y="2194560"/>
            <a:ext cx="2087880" cy="502920"/>
          </a:xfrm>
          <a:prstGeom prst="rect">
            <a:avLst/>
          </a:prstGeom>
          <a:noFill/>
          <a:ln/>
        </p:spPr>
        <p:txBody>
          <a:bodyPr wrap="square" lIns="0" tIns="0" rIns="0" bIns="0" rtlCol="0" anchor="t"/>
          <a:lstStyle/>
          <a:p>
            <a:pPr marL="0" indent="0">
              <a:buNone/>
            </a:pPr>
            <a:r>
              <a:rPr lang="en-US" sz="1600" dirty="0">
                <a:solidFill>
                  <a:schemeClr val="bg1"/>
                </a:solidFill>
              </a:rPr>
              <a:t>Mobile-first design</a:t>
            </a:r>
            <a:endParaRPr lang="en-US" sz="1600" dirty="0"/>
          </a:p>
        </p:txBody>
      </p:sp>
      <p:sp>
        <p:nvSpPr>
          <p:cNvPr id="11" name="Structured and predictable outputs tile"/>
          <p:cNvSpPr/>
          <p:nvPr/>
        </p:nvSpPr>
        <p:spPr>
          <a:xfrm>
            <a:off x="6096000" y="1325880"/>
            <a:ext cx="2499360" cy="1463040"/>
          </a:xfrm>
          <a:prstGeom prst="roundRect">
            <a:avLst>
              <a:gd name="adj" fmla="val 7500"/>
            </a:avLst>
          </a:prstGeom>
          <a:solidFill>
            <a:schemeClr val="tx2"/>
          </a:solidFill>
          <a:ln w="12700">
            <a:solidFill>
              <a:srgbClr val="3A3026"/>
            </a:solidFill>
            <a:prstDash val="solid"/>
          </a:ln>
        </p:spPr>
      </p:sp>
      <p:sp>
        <p:nvSpPr>
          <p:cNvPr id="12" name="Structured and predictable outputs icon circle"/>
          <p:cNvSpPr/>
          <p:nvPr/>
        </p:nvSpPr>
        <p:spPr>
          <a:xfrm>
            <a:off x="6324600" y="1554480"/>
            <a:ext cx="502920" cy="502920"/>
          </a:xfrm>
          <a:prstGeom prst="ellipse">
            <a:avLst/>
          </a:prstGeom>
          <a:solidFill>
            <a:schemeClr val="accent1"/>
          </a:solidFill>
          <a:ln/>
        </p:spPr>
      </p:sp>
      <p:pic>
        <p:nvPicPr>
          <p:cNvPr id="13" name="Structured and predictable outputs icon" descr="preencoded.png"/>
          <p:cNvPicPr>
            <a:picLocks noChangeAspect="1"/>
          </p:cNvPicPr>
          <p:nvPr/>
        </p:nvPicPr>
        <p:blipFill>
          <a:blip r:embed="rId5"/>
          <a:stretch>
            <a:fillRect/>
          </a:stretch>
        </p:blipFill>
        <p:spPr>
          <a:xfrm>
            <a:off x="6443472" y="1673352"/>
            <a:ext cx="265176" cy="265176"/>
          </a:xfrm>
          <a:prstGeom prst="rect">
            <a:avLst/>
          </a:prstGeom>
        </p:spPr>
      </p:pic>
      <p:sp>
        <p:nvSpPr>
          <p:cNvPr id="14" name="Structured and predictable outputs text"/>
          <p:cNvSpPr txBox="1"/>
          <p:nvPr/>
        </p:nvSpPr>
        <p:spPr>
          <a:xfrm>
            <a:off x="6324600" y="2194560"/>
            <a:ext cx="2087880" cy="502920"/>
          </a:xfrm>
          <a:prstGeom prst="rect">
            <a:avLst/>
          </a:prstGeom>
          <a:noFill/>
          <a:ln/>
        </p:spPr>
        <p:txBody>
          <a:bodyPr wrap="square" lIns="0" tIns="0" rIns="0" bIns="0" rtlCol="0" anchor="t"/>
          <a:lstStyle/>
          <a:p>
            <a:pPr marL="0" indent="0">
              <a:buNone/>
            </a:pPr>
            <a:r>
              <a:rPr lang="en-US" sz="1600" dirty="0">
                <a:solidFill>
                  <a:schemeClr val="bg1"/>
                </a:solidFill>
              </a:rPr>
              <a:t>Structured and predictable outputs</a:t>
            </a:r>
            <a:endParaRPr lang="en-US" sz="1600" dirty="0"/>
          </a:p>
        </p:txBody>
      </p:sp>
      <p:sp>
        <p:nvSpPr>
          <p:cNvPr id="15" name="Context awareness and personalization tile"/>
          <p:cNvSpPr/>
          <p:nvPr/>
        </p:nvSpPr>
        <p:spPr>
          <a:xfrm>
            <a:off x="548640" y="3063240"/>
            <a:ext cx="2499360" cy="1463040"/>
          </a:xfrm>
          <a:prstGeom prst="roundRect">
            <a:avLst>
              <a:gd name="adj" fmla="val 7500"/>
            </a:avLst>
          </a:prstGeom>
          <a:solidFill>
            <a:schemeClr val="tx2"/>
          </a:solidFill>
          <a:ln w="12700">
            <a:solidFill>
              <a:srgbClr val="3A3026"/>
            </a:solidFill>
            <a:prstDash val="solid"/>
          </a:ln>
        </p:spPr>
      </p:sp>
      <p:sp>
        <p:nvSpPr>
          <p:cNvPr id="16" name="Context awareness and personalization icon circle"/>
          <p:cNvSpPr/>
          <p:nvPr/>
        </p:nvSpPr>
        <p:spPr>
          <a:xfrm>
            <a:off x="777240" y="3291840"/>
            <a:ext cx="502920" cy="502920"/>
          </a:xfrm>
          <a:prstGeom prst="ellipse">
            <a:avLst/>
          </a:prstGeom>
          <a:solidFill>
            <a:schemeClr val="accent1"/>
          </a:solidFill>
          <a:ln/>
        </p:spPr>
      </p:sp>
      <p:pic>
        <p:nvPicPr>
          <p:cNvPr id="17" name="Context awareness and personalization icon" descr="preencoded.png"/>
          <p:cNvPicPr>
            <a:picLocks noChangeAspect="1"/>
          </p:cNvPicPr>
          <p:nvPr/>
        </p:nvPicPr>
        <p:blipFill>
          <a:blip r:embed="rId6"/>
          <a:stretch>
            <a:fillRect/>
          </a:stretch>
        </p:blipFill>
        <p:spPr>
          <a:xfrm>
            <a:off x="896112" y="3410712"/>
            <a:ext cx="265176" cy="265176"/>
          </a:xfrm>
          <a:prstGeom prst="rect">
            <a:avLst/>
          </a:prstGeom>
        </p:spPr>
      </p:pic>
      <p:sp>
        <p:nvSpPr>
          <p:cNvPr id="18" name="Context awareness and personalization text"/>
          <p:cNvSpPr txBox="1"/>
          <p:nvPr/>
        </p:nvSpPr>
        <p:spPr>
          <a:xfrm>
            <a:off x="777240" y="3931920"/>
            <a:ext cx="2087880" cy="502920"/>
          </a:xfrm>
          <a:prstGeom prst="rect">
            <a:avLst/>
          </a:prstGeom>
          <a:noFill/>
          <a:ln/>
        </p:spPr>
        <p:txBody>
          <a:bodyPr wrap="square" lIns="0" tIns="0" rIns="0" bIns="0" rtlCol="0" anchor="t"/>
          <a:lstStyle/>
          <a:p>
            <a:pPr marL="0" indent="0">
              <a:buNone/>
            </a:pPr>
            <a:r>
              <a:rPr lang="en-US" sz="1600" dirty="0">
                <a:solidFill>
                  <a:schemeClr val="bg1"/>
                </a:solidFill>
              </a:rPr>
              <a:t>Context awareness and personalization</a:t>
            </a:r>
            <a:endParaRPr lang="en-US" sz="1600" dirty="0"/>
          </a:p>
        </p:txBody>
      </p:sp>
      <p:sp>
        <p:nvSpPr>
          <p:cNvPr id="19" name="Multiple input methods tile"/>
          <p:cNvSpPr/>
          <p:nvPr/>
        </p:nvSpPr>
        <p:spPr>
          <a:xfrm>
            <a:off x="3322320" y="3063240"/>
            <a:ext cx="2499360" cy="1463040"/>
          </a:xfrm>
          <a:prstGeom prst="roundRect">
            <a:avLst>
              <a:gd name="adj" fmla="val 7500"/>
            </a:avLst>
          </a:prstGeom>
          <a:solidFill>
            <a:schemeClr val="tx2"/>
          </a:solidFill>
          <a:ln w="12700">
            <a:solidFill>
              <a:srgbClr val="3A3026"/>
            </a:solidFill>
            <a:prstDash val="solid"/>
          </a:ln>
        </p:spPr>
      </p:sp>
      <p:sp>
        <p:nvSpPr>
          <p:cNvPr id="20" name="Multiple input methods icon circle"/>
          <p:cNvSpPr/>
          <p:nvPr/>
        </p:nvSpPr>
        <p:spPr>
          <a:xfrm>
            <a:off x="3550920" y="3291840"/>
            <a:ext cx="502920" cy="502920"/>
          </a:xfrm>
          <a:prstGeom prst="ellipse">
            <a:avLst/>
          </a:prstGeom>
          <a:solidFill>
            <a:schemeClr val="accent1"/>
          </a:solidFill>
          <a:ln/>
        </p:spPr>
      </p:sp>
      <p:pic>
        <p:nvPicPr>
          <p:cNvPr id="21" name="Multiple input methods icon" descr="preencoded.png"/>
          <p:cNvPicPr>
            <a:picLocks noChangeAspect="1"/>
          </p:cNvPicPr>
          <p:nvPr/>
        </p:nvPicPr>
        <p:blipFill>
          <a:blip r:embed="rId7"/>
          <a:stretch>
            <a:fillRect/>
          </a:stretch>
        </p:blipFill>
        <p:spPr>
          <a:xfrm>
            <a:off x="3669792" y="3410712"/>
            <a:ext cx="265176" cy="265176"/>
          </a:xfrm>
          <a:prstGeom prst="rect">
            <a:avLst/>
          </a:prstGeom>
        </p:spPr>
      </p:pic>
      <p:sp>
        <p:nvSpPr>
          <p:cNvPr id="22" name="Multiple input methods text"/>
          <p:cNvSpPr txBox="1"/>
          <p:nvPr/>
        </p:nvSpPr>
        <p:spPr>
          <a:xfrm>
            <a:off x="3550920" y="3931920"/>
            <a:ext cx="2087880" cy="502920"/>
          </a:xfrm>
          <a:prstGeom prst="rect">
            <a:avLst/>
          </a:prstGeom>
          <a:noFill/>
          <a:ln/>
        </p:spPr>
        <p:txBody>
          <a:bodyPr wrap="square" lIns="0" tIns="0" rIns="0" bIns="0" rtlCol="0" anchor="t"/>
          <a:lstStyle/>
          <a:p>
            <a:pPr marL="0" indent="0">
              <a:buNone/>
            </a:pPr>
            <a:r>
              <a:rPr lang="en-US" sz="1600" dirty="0">
                <a:solidFill>
                  <a:schemeClr val="bg1"/>
                </a:solidFill>
              </a:rPr>
              <a:t>Multiple input methods</a:t>
            </a:r>
            <a:endParaRPr lang="en-US" sz="1600" dirty="0"/>
          </a:p>
        </p:txBody>
      </p:sp>
      <p:sp>
        <p:nvSpPr>
          <p:cNvPr id="23" name="Honesty about limits tile"/>
          <p:cNvSpPr/>
          <p:nvPr/>
        </p:nvSpPr>
        <p:spPr>
          <a:xfrm>
            <a:off x="6096000" y="3063240"/>
            <a:ext cx="2499360" cy="1463040"/>
          </a:xfrm>
          <a:prstGeom prst="roundRect">
            <a:avLst>
              <a:gd name="adj" fmla="val 7500"/>
            </a:avLst>
          </a:prstGeom>
          <a:solidFill>
            <a:schemeClr val="tx2"/>
          </a:solidFill>
          <a:ln w="12700">
            <a:solidFill>
              <a:srgbClr val="3A3026"/>
            </a:solidFill>
            <a:prstDash val="solid"/>
          </a:ln>
        </p:spPr>
      </p:sp>
      <p:sp>
        <p:nvSpPr>
          <p:cNvPr id="24" name="Honesty about limits icon circle"/>
          <p:cNvSpPr/>
          <p:nvPr/>
        </p:nvSpPr>
        <p:spPr>
          <a:xfrm>
            <a:off x="6324600" y="3291840"/>
            <a:ext cx="502920" cy="502920"/>
          </a:xfrm>
          <a:prstGeom prst="ellipse">
            <a:avLst/>
          </a:prstGeom>
          <a:solidFill>
            <a:schemeClr val="accent1"/>
          </a:solidFill>
          <a:ln/>
        </p:spPr>
      </p:sp>
      <p:pic>
        <p:nvPicPr>
          <p:cNvPr id="25" name="Honesty about limits icon" descr="preencoded.png"/>
          <p:cNvPicPr>
            <a:picLocks noChangeAspect="1"/>
          </p:cNvPicPr>
          <p:nvPr/>
        </p:nvPicPr>
        <p:blipFill>
          <a:blip r:embed="rId8"/>
          <a:stretch>
            <a:fillRect/>
          </a:stretch>
        </p:blipFill>
        <p:spPr>
          <a:xfrm>
            <a:off x="6443472" y="3410712"/>
            <a:ext cx="265176" cy="265176"/>
          </a:xfrm>
          <a:prstGeom prst="rect">
            <a:avLst/>
          </a:prstGeom>
        </p:spPr>
      </p:pic>
      <p:sp>
        <p:nvSpPr>
          <p:cNvPr id="26" name="Honesty about limits text"/>
          <p:cNvSpPr txBox="1"/>
          <p:nvPr/>
        </p:nvSpPr>
        <p:spPr>
          <a:xfrm>
            <a:off x="6324600" y="3931920"/>
            <a:ext cx="2087880" cy="502920"/>
          </a:xfrm>
          <a:prstGeom prst="rect">
            <a:avLst/>
          </a:prstGeom>
          <a:noFill/>
          <a:ln/>
        </p:spPr>
        <p:txBody>
          <a:bodyPr wrap="square" lIns="0" tIns="0" rIns="0" bIns="0" rtlCol="0" anchor="t"/>
          <a:lstStyle/>
          <a:p>
            <a:pPr marL="0" indent="0">
              <a:buNone/>
            </a:pPr>
            <a:r>
              <a:rPr lang="en-US" sz="1600" dirty="0">
                <a:solidFill>
                  <a:schemeClr val="bg1"/>
                </a:solidFill>
              </a:rPr>
              <a:t>Honesty about limits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1097280"/>
          </a:xfrm>
          <a:prstGeom prst="rect">
            <a:avLst/>
          </a:prstGeom>
          <a:noFill/>
          <a:ln/>
        </p:spPr>
        <p:txBody>
          <a:bodyPr wrap="square" lIns="0" tIns="0" rIns="0" bIns="0" rtlCol="0" anchor="t"/>
          <a:lstStyle/>
          <a:p>
            <a:pPr marL="0" indent="0" algn="l">
              <a:buNone/>
            </a:pPr>
            <a:r>
              <a:rPr lang="en-US" sz="3600" b="1" dirty="0">
                <a:solidFill>
                  <a:schemeClr val="bg1"/>
                </a:solidFill>
              </a:rPr>
              <a:t>Technical requirements</a:t>
            </a:r>
            <a:endParaRPr lang="en-US" sz="3600" dirty="0"/>
          </a:p>
        </p:txBody>
      </p:sp>
      <p:sp>
        <p:nvSpPr>
          <p:cNvPr id="3" name="App band"/>
          <p:cNvSpPr/>
          <p:nvPr/>
        </p:nvSpPr>
        <p:spPr>
          <a:xfrm>
            <a:off x="548640" y="1188720"/>
            <a:ext cx="8046720" cy="731520"/>
          </a:xfrm>
          <a:prstGeom prst="roundRect">
            <a:avLst>
              <a:gd name="adj" fmla="val 15000"/>
            </a:avLst>
          </a:prstGeom>
          <a:solidFill>
            <a:schemeClr val="tx2"/>
          </a:solidFill>
          <a:ln w="12700">
            <a:solidFill>
              <a:srgbClr val="3A3026"/>
            </a:solidFill>
            <a:prstDash val="solid"/>
          </a:ln>
        </p:spPr>
      </p:sp>
      <p:sp>
        <p:nvSpPr>
          <p:cNvPr id="4" name="App label"/>
          <p:cNvSpPr txBox="1"/>
          <p:nvPr/>
        </p:nvSpPr>
        <p:spPr>
          <a:xfrm>
            <a:off x="777240" y="1188720"/>
            <a:ext cx="1463040" cy="731520"/>
          </a:xfrm>
          <a:prstGeom prst="rect">
            <a:avLst/>
          </a:prstGeom>
          <a:noFill/>
          <a:ln/>
        </p:spPr>
        <p:txBody>
          <a:bodyPr wrap="square" lIns="0" tIns="0" rIns="0" bIns="0" rtlCol="0" anchor="ctr"/>
          <a:lstStyle/>
          <a:p>
            <a:pPr marL="0" indent="0">
              <a:buNone/>
            </a:pPr>
            <a:r>
              <a:rPr lang="en-US" sz="1400" b="1" dirty="0">
                <a:solidFill>
                  <a:schemeClr val="accent1"/>
                </a:solidFill>
              </a:rPr>
              <a:t>App</a:t>
            </a:r>
            <a:endParaRPr lang="en-US" sz="1400" dirty="0"/>
          </a:p>
        </p:txBody>
      </p:sp>
      <p:sp>
        <p:nvSpPr>
          <p:cNvPr id="5" name="Browser-based chip"/>
          <p:cNvSpPr txBox="1"/>
          <p:nvPr/>
        </p:nvSpPr>
        <p:spPr>
          <a:xfrm>
            <a:off x="2331720" y="1280160"/>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Browser-based</a:t>
            </a:r>
            <a:endParaRPr lang="en-US" sz="1300" dirty="0"/>
          </a:p>
        </p:txBody>
      </p:sp>
      <p:sp>
        <p:nvSpPr>
          <p:cNvPr id="6" name="React chip"/>
          <p:cNvSpPr txBox="1"/>
          <p:nvPr/>
        </p:nvSpPr>
        <p:spPr>
          <a:xfrm>
            <a:off x="4419600" y="1280160"/>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React</a:t>
            </a:r>
            <a:endParaRPr lang="en-US" sz="1300" dirty="0"/>
          </a:p>
          <a:p>
            <a:pPr marL="0" indent="0">
              <a:buNone/>
            </a:pPr>
            <a:r>
              <a:rPr lang="en-US" sz="1100" dirty="0">
                <a:solidFill>
                  <a:schemeClr val="bg2"/>
                </a:solidFill>
              </a:rPr>
              <a:t>Frontend</a:t>
            </a:r>
            <a:endParaRPr lang="en-US" sz="1300" dirty="0"/>
          </a:p>
        </p:txBody>
      </p:sp>
      <p:sp>
        <p:nvSpPr>
          <p:cNvPr id="7" name="Learning tools band"/>
          <p:cNvSpPr/>
          <p:nvPr/>
        </p:nvSpPr>
        <p:spPr>
          <a:xfrm>
            <a:off x="548640" y="2029968"/>
            <a:ext cx="8046720" cy="731520"/>
          </a:xfrm>
          <a:prstGeom prst="roundRect">
            <a:avLst>
              <a:gd name="adj" fmla="val 15000"/>
            </a:avLst>
          </a:prstGeom>
          <a:solidFill>
            <a:schemeClr val="tx2"/>
          </a:solidFill>
          <a:ln w="12700">
            <a:solidFill>
              <a:srgbClr val="3A3026"/>
            </a:solidFill>
            <a:prstDash val="solid"/>
          </a:ln>
        </p:spPr>
      </p:sp>
      <p:sp>
        <p:nvSpPr>
          <p:cNvPr id="8" name="Learning tools label"/>
          <p:cNvSpPr txBox="1"/>
          <p:nvPr/>
        </p:nvSpPr>
        <p:spPr>
          <a:xfrm>
            <a:off x="777240" y="2029968"/>
            <a:ext cx="1463040" cy="731520"/>
          </a:xfrm>
          <a:prstGeom prst="rect">
            <a:avLst/>
          </a:prstGeom>
          <a:noFill/>
          <a:ln/>
        </p:spPr>
        <p:txBody>
          <a:bodyPr wrap="square" lIns="0" tIns="0" rIns="0" bIns="0" rtlCol="0" anchor="ctr"/>
          <a:lstStyle/>
          <a:p>
            <a:pPr marL="0" indent="0">
              <a:buNone/>
            </a:pPr>
            <a:r>
              <a:rPr lang="en-US" sz="1400" b="1" dirty="0">
                <a:solidFill>
                  <a:schemeClr val="accent1"/>
                </a:solidFill>
              </a:rPr>
              <a:t>Learning tools</a:t>
            </a:r>
            <a:endParaRPr lang="en-US" sz="1400" dirty="0"/>
          </a:p>
        </p:txBody>
      </p:sp>
      <p:sp>
        <p:nvSpPr>
          <p:cNvPr id="9" name="tldraw chip"/>
          <p:cNvSpPr txBox="1"/>
          <p:nvPr/>
        </p:nvSpPr>
        <p:spPr>
          <a:xfrm>
            <a:off x="2331720" y="2121408"/>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tldraw</a:t>
            </a:r>
            <a:endParaRPr lang="en-US" sz="1300" dirty="0"/>
          </a:p>
          <a:p>
            <a:pPr marL="0" indent="0">
              <a:buNone/>
            </a:pPr>
            <a:r>
              <a:rPr lang="en-US" sz="1100" dirty="0">
                <a:solidFill>
                  <a:schemeClr val="bg2"/>
                </a:solidFill>
              </a:rPr>
              <a:t>Whiteboard</a:t>
            </a:r>
            <a:endParaRPr lang="en-US" sz="1300" dirty="0"/>
          </a:p>
        </p:txBody>
      </p:sp>
      <p:sp>
        <p:nvSpPr>
          <p:cNvPr id="10" name="Manim / Lottie chip"/>
          <p:cNvSpPr txBox="1"/>
          <p:nvPr/>
        </p:nvSpPr>
        <p:spPr>
          <a:xfrm>
            <a:off x="4419600" y="2121408"/>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Manim / Lottie</a:t>
            </a:r>
            <a:endParaRPr lang="en-US" sz="1300" dirty="0"/>
          </a:p>
          <a:p>
            <a:pPr marL="0" indent="0">
              <a:buNone/>
            </a:pPr>
            <a:r>
              <a:rPr lang="en-US" sz="1100" dirty="0">
                <a:solidFill>
                  <a:schemeClr val="bg2"/>
                </a:solidFill>
              </a:rPr>
              <a:t>Illustrations</a:t>
            </a:r>
            <a:endParaRPr lang="en-US" sz="1300" dirty="0"/>
          </a:p>
        </p:txBody>
      </p:sp>
      <p:sp>
        <p:nvSpPr>
          <p:cNvPr id="11" name="KaTeX chip"/>
          <p:cNvSpPr txBox="1"/>
          <p:nvPr/>
        </p:nvSpPr>
        <p:spPr>
          <a:xfrm>
            <a:off x="6507480" y="2121408"/>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KaTeX</a:t>
            </a:r>
            <a:endParaRPr lang="en-US" sz="1300" dirty="0"/>
          </a:p>
          <a:p>
            <a:pPr marL="0" indent="0">
              <a:buNone/>
            </a:pPr>
            <a:r>
              <a:rPr lang="en-US" sz="1100" dirty="0">
                <a:solidFill>
                  <a:schemeClr val="bg2"/>
                </a:solidFill>
              </a:rPr>
              <a:t>Math</a:t>
            </a:r>
            <a:endParaRPr lang="en-US" sz="1300" dirty="0"/>
          </a:p>
        </p:txBody>
      </p:sp>
      <p:sp>
        <p:nvSpPr>
          <p:cNvPr id="12" name="Backend band"/>
          <p:cNvSpPr/>
          <p:nvPr/>
        </p:nvSpPr>
        <p:spPr>
          <a:xfrm>
            <a:off x="548640" y="2871216"/>
            <a:ext cx="8046720" cy="731520"/>
          </a:xfrm>
          <a:prstGeom prst="roundRect">
            <a:avLst>
              <a:gd name="adj" fmla="val 15000"/>
            </a:avLst>
          </a:prstGeom>
          <a:solidFill>
            <a:schemeClr val="tx2"/>
          </a:solidFill>
          <a:ln w="12700">
            <a:solidFill>
              <a:srgbClr val="3A3026"/>
            </a:solidFill>
            <a:prstDash val="solid"/>
          </a:ln>
        </p:spPr>
      </p:sp>
      <p:sp>
        <p:nvSpPr>
          <p:cNvPr id="13" name="Backend label"/>
          <p:cNvSpPr txBox="1"/>
          <p:nvPr/>
        </p:nvSpPr>
        <p:spPr>
          <a:xfrm>
            <a:off x="777240" y="2871216"/>
            <a:ext cx="1463040" cy="731520"/>
          </a:xfrm>
          <a:prstGeom prst="rect">
            <a:avLst/>
          </a:prstGeom>
          <a:noFill/>
          <a:ln/>
        </p:spPr>
        <p:txBody>
          <a:bodyPr wrap="square" lIns="0" tIns="0" rIns="0" bIns="0" rtlCol="0" anchor="ctr"/>
          <a:lstStyle/>
          <a:p>
            <a:pPr marL="0" indent="0">
              <a:buNone/>
            </a:pPr>
            <a:r>
              <a:rPr lang="en-US" sz="1400" b="1" dirty="0">
                <a:solidFill>
                  <a:schemeClr val="accent1"/>
                </a:solidFill>
              </a:rPr>
              <a:t>Backend</a:t>
            </a:r>
            <a:endParaRPr lang="en-US" sz="1400" dirty="0"/>
          </a:p>
        </p:txBody>
      </p:sp>
      <p:sp>
        <p:nvSpPr>
          <p:cNvPr id="14" name="Python FastAPI chip"/>
          <p:cNvSpPr txBox="1"/>
          <p:nvPr/>
        </p:nvSpPr>
        <p:spPr>
          <a:xfrm>
            <a:off x="2331720" y="2962656"/>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Python FastAPI</a:t>
            </a:r>
            <a:endParaRPr lang="en-US" sz="1300" dirty="0"/>
          </a:p>
        </p:txBody>
      </p:sp>
      <p:sp>
        <p:nvSpPr>
          <p:cNvPr id="15" name="Pydantic chip"/>
          <p:cNvSpPr txBox="1"/>
          <p:nvPr/>
        </p:nvSpPr>
        <p:spPr>
          <a:xfrm>
            <a:off x="4419600" y="2962656"/>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Pydantic</a:t>
            </a:r>
            <a:endParaRPr lang="en-US" sz="1300" dirty="0"/>
          </a:p>
          <a:p>
            <a:pPr marL="0" indent="0">
              <a:buNone/>
            </a:pPr>
            <a:r>
              <a:rPr lang="en-US" sz="1100" dirty="0">
                <a:solidFill>
                  <a:schemeClr val="bg2"/>
                </a:solidFill>
              </a:rPr>
              <a:t>Data validation</a:t>
            </a:r>
            <a:endParaRPr lang="en-US" sz="1300" dirty="0"/>
          </a:p>
        </p:txBody>
      </p:sp>
      <p:sp>
        <p:nvSpPr>
          <p:cNvPr id="16" name="Claude Agent SDK chip"/>
          <p:cNvSpPr txBox="1"/>
          <p:nvPr/>
        </p:nvSpPr>
        <p:spPr>
          <a:xfrm>
            <a:off x="6507480" y="2962656"/>
            <a:ext cx="195072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Claude Agent SDK</a:t>
            </a:r>
            <a:endParaRPr lang="en-US" sz="1300" dirty="0"/>
          </a:p>
          <a:p>
            <a:pPr marL="0" indent="0">
              <a:buNone/>
            </a:pPr>
            <a:r>
              <a:rPr lang="en-US" sz="1100" dirty="0">
                <a:solidFill>
                  <a:schemeClr val="bg2"/>
                </a:solidFill>
              </a:rPr>
              <a:t>AI tutor</a:t>
            </a:r>
            <a:endParaRPr lang="en-US" sz="1300" dirty="0"/>
          </a:p>
        </p:txBody>
      </p:sp>
      <p:sp>
        <p:nvSpPr>
          <p:cNvPr id="17" name="Infrastructure band"/>
          <p:cNvSpPr/>
          <p:nvPr/>
        </p:nvSpPr>
        <p:spPr>
          <a:xfrm>
            <a:off x="548640" y="3712464"/>
            <a:ext cx="8046720" cy="731520"/>
          </a:xfrm>
          <a:prstGeom prst="roundRect">
            <a:avLst>
              <a:gd name="adj" fmla="val 15000"/>
            </a:avLst>
          </a:prstGeom>
          <a:solidFill>
            <a:schemeClr val="tx2"/>
          </a:solidFill>
          <a:ln w="12700">
            <a:solidFill>
              <a:srgbClr val="3A3026"/>
            </a:solidFill>
            <a:prstDash val="solid"/>
          </a:ln>
        </p:spPr>
      </p:sp>
      <p:sp>
        <p:nvSpPr>
          <p:cNvPr id="18" name="Infrastructure label"/>
          <p:cNvSpPr txBox="1"/>
          <p:nvPr/>
        </p:nvSpPr>
        <p:spPr>
          <a:xfrm>
            <a:off x="777240" y="3712464"/>
            <a:ext cx="1463040" cy="731520"/>
          </a:xfrm>
          <a:prstGeom prst="rect">
            <a:avLst/>
          </a:prstGeom>
          <a:noFill/>
          <a:ln/>
        </p:spPr>
        <p:txBody>
          <a:bodyPr wrap="square" lIns="0" tIns="0" rIns="0" bIns="0" rtlCol="0" anchor="ctr"/>
          <a:lstStyle/>
          <a:p>
            <a:pPr marL="0" indent="0">
              <a:buNone/>
            </a:pPr>
            <a:r>
              <a:rPr lang="en-US" sz="1400" b="1" dirty="0">
                <a:solidFill>
                  <a:schemeClr val="accent1"/>
                </a:solidFill>
              </a:rPr>
              <a:t>Infrastructure</a:t>
            </a:r>
            <a:endParaRPr lang="en-US" sz="1400" dirty="0"/>
          </a:p>
        </p:txBody>
      </p:sp>
      <p:sp>
        <p:nvSpPr>
          <p:cNvPr id="19" name="Docker chip"/>
          <p:cNvSpPr txBox="1"/>
          <p:nvPr/>
        </p:nvSpPr>
        <p:spPr>
          <a:xfrm>
            <a:off x="2331720" y="3803904"/>
            <a:ext cx="4038600" cy="548640"/>
          </a:xfrm>
          <a:prstGeom prst="roundRect">
            <a:avLst>
              <a:gd name="adj" fmla="val 16667"/>
            </a:avLst>
          </a:prstGeom>
          <a:solidFill>
            <a:srgbClr val="2C241A"/>
          </a:solidFill>
          <a:ln/>
        </p:spPr>
        <p:txBody>
          <a:bodyPr wrap="square" lIns="101600" tIns="0" rIns="101600" bIns="0" rtlCol="0" anchor="ctr"/>
          <a:lstStyle/>
          <a:p>
            <a:pPr marL="0" indent="0">
              <a:buNone/>
            </a:pPr>
            <a:r>
              <a:rPr lang="en-US" sz="1300" b="1" dirty="0">
                <a:solidFill>
                  <a:schemeClr val="bg1"/>
                </a:solidFill>
              </a:rPr>
              <a:t>Docker</a:t>
            </a:r>
            <a:endParaRPr lang="en-US" sz="1300" dirty="0"/>
          </a:p>
          <a:p>
            <a:pPr marL="0" indent="0">
              <a:buNone/>
            </a:pPr>
            <a:r>
              <a:rPr lang="en-US" sz="1100" dirty="0">
                <a:solidFill>
                  <a:schemeClr val="bg2"/>
                </a:solidFill>
              </a:rPr>
              <a:t>Containers and sandboxing (TBD)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p:nvPr>
        </p:nvSpPr>
        <p:spPr>
          <a:prstGeom prst="rect">
            <a:avLst/>
          </a:prstGeom>
          <a:noFill/>
          <a:ln/>
        </p:spPr>
        <p:txBody>
          <a:bodyPr wrap="square" lIns="0" tIns="0" rIns="0" bIns="0" rtlCol="0" anchor="t"/>
          <a:lstStyle/>
          <a:p>
            <a:pPr marL="0" indent="0" algn="l">
              <a:buNone/>
            </a:pPr>
            <a:r>
              <a:rPr lang="en-US" sz="3600" b="1" dirty="0">
                <a:solidFill>
                  <a:schemeClr val="bg1"/>
                </a:solidFill>
              </a:rPr>
              <a:t>System design</a:t>
            </a:r>
            <a:endParaRPr lang="en-US" sz="3600" dirty="0"/>
          </a:p>
        </p:txBody>
      </p:sp>
      <p:sp>
        <p:nvSpPr>
          <p:cNvPr id="3" name="legend claude"/>
          <p:cNvSpPr/>
          <p:nvPr/>
        </p:nvSpPr>
        <p:spPr>
          <a:xfrm>
            <a:off x="5897880" y="667512"/>
            <a:ext cx="118872" cy="118872"/>
          </a:xfrm>
          <a:prstGeom prst="ellipse">
            <a:avLst/>
          </a:prstGeom>
          <a:solidFill>
            <a:schemeClr val="accent1"/>
          </a:solidFill>
          <a:ln/>
        </p:spPr>
      </p:sp>
      <p:sp>
        <p:nvSpPr>
          <p:cNvPr id="4" name="Text 2"/>
          <p:cNvSpPr txBox="1"/>
          <p:nvPr/>
        </p:nvSpPr>
        <p:spPr>
          <a:xfrm>
            <a:off x="6062472" y="621792"/>
            <a:ext cx="777240" cy="210312"/>
          </a:xfrm>
          <a:prstGeom prst="rect">
            <a:avLst/>
          </a:prstGeom>
          <a:noFill/>
          <a:ln/>
        </p:spPr>
        <p:txBody>
          <a:bodyPr wrap="square" lIns="0" tIns="0" rIns="0" bIns="0" rtlCol="0" anchor="ctr"/>
          <a:lstStyle/>
          <a:p>
            <a:pPr marL="0" indent="0">
              <a:buNone/>
            </a:pPr>
            <a:r>
              <a:rPr lang="en-US" sz="750" dirty="0">
                <a:solidFill>
                  <a:schemeClr val="bg2"/>
                </a:solidFill>
              </a:rPr>
              <a:t>Uses Claude</a:t>
            </a:r>
            <a:endParaRPr lang="en-US" sz="750" dirty="0"/>
          </a:p>
        </p:txBody>
      </p:sp>
      <p:sp>
        <p:nvSpPr>
          <p:cNvPr id="5" name="Shape 3"/>
          <p:cNvSpPr/>
          <p:nvPr/>
        </p:nvSpPr>
        <p:spPr>
          <a:xfrm>
            <a:off x="6903720" y="726948"/>
            <a:ext cx="274320" cy="0"/>
          </a:xfrm>
          <a:prstGeom prst="line">
            <a:avLst/>
          </a:prstGeom>
          <a:noFill/>
          <a:ln w="12700">
            <a:solidFill>
              <a:schemeClr val="bg2"/>
            </a:solidFill>
            <a:prstDash val="solid"/>
            <a:tailEnd type="triangle"/>
          </a:ln>
        </p:spPr>
      </p:sp>
      <p:sp>
        <p:nvSpPr>
          <p:cNvPr id="6" name="Text 4"/>
          <p:cNvSpPr txBox="1"/>
          <p:nvPr/>
        </p:nvSpPr>
        <p:spPr>
          <a:xfrm>
            <a:off x="7242048" y="621792"/>
            <a:ext cx="320040" cy="210312"/>
          </a:xfrm>
          <a:prstGeom prst="rect">
            <a:avLst/>
          </a:prstGeom>
          <a:noFill/>
          <a:ln/>
        </p:spPr>
        <p:txBody>
          <a:bodyPr wrap="square" lIns="0" tIns="0" rIns="0" bIns="0" rtlCol="0" anchor="ctr"/>
          <a:lstStyle/>
          <a:p>
            <a:pPr marL="0" indent="0">
              <a:buNone/>
            </a:pPr>
            <a:r>
              <a:rPr lang="en-US" sz="750" dirty="0">
                <a:solidFill>
                  <a:schemeClr val="bg2"/>
                </a:solidFill>
              </a:rPr>
              <a:t>Call</a:t>
            </a:r>
            <a:endParaRPr lang="en-US" sz="750" dirty="0"/>
          </a:p>
        </p:txBody>
      </p:sp>
      <p:sp>
        <p:nvSpPr>
          <p:cNvPr id="7" name="Shape 5"/>
          <p:cNvSpPr/>
          <p:nvPr/>
        </p:nvSpPr>
        <p:spPr>
          <a:xfrm>
            <a:off x="7635240" y="726948"/>
            <a:ext cx="274320" cy="0"/>
          </a:xfrm>
          <a:prstGeom prst="line">
            <a:avLst/>
          </a:prstGeom>
          <a:noFill/>
          <a:ln w="12700">
            <a:solidFill>
              <a:schemeClr val="bg2"/>
            </a:solidFill>
            <a:prstDash val="dash"/>
            <a:tailEnd type="triangle"/>
          </a:ln>
        </p:spPr>
      </p:sp>
      <p:sp>
        <p:nvSpPr>
          <p:cNvPr id="8" name="Text 6"/>
          <p:cNvSpPr txBox="1"/>
          <p:nvPr/>
        </p:nvSpPr>
        <p:spPr>
          <a:xfrm>
            <a:off x="7973568" y="621792"/>
            <a:ext cx="640080" cy="210312"/>
          </a:xfrm>
          <a:prstGeom prst="rect">
            <a:avLst/>
          </a:prstGeom>
          <a:noFill/>
          <a:ln/>
        </p:spPr>
        <p:txBody>
          <a:bodyPr wrap="square" lIns="0" tIns="0" rIns="0" bIns="0" rtlCol="0" anchor="ctr"/>
          <a:lstStyle/>
          <a:p>
            <a:pPr marL="0" indent="0">
              <a:buNone/>
            </a:pPr>
            <a:r>
              <a:rPr lang="en-US" sz="750" dirty="0">
                <a:solidFill>
                  <a:schemeClr val="bg2"/>
                </a:solidFill>
              </a:rPr>
              <a:t>On request</a:t>
            </a:r>
            <a:endParaRPr lang="en-US" sz="750" dirty="0"/>
          </a:p>
        </p:txBody>
      </p:sp>
      <p:sp>
        <p:nvSpPr>
          <p:cNvPr id="9" name="Learner's machine"/>
          <p:cNvSpPr/>
          <p:nvPr/>
        </p:nvSpPr>
        <p:spPr>
          <a:xfrm>
            <a:off x="548640" y="1143000"/>
            <a:ext cx="6355080" cy="3749040"/>
          </a:xfrm>
          <a:prstGeom prst="roundRect">
            <a:avLst>
              <a:gd name="adj" fmla="val 2439"/>
            </a:avLst>
          </a:prstGeom>
          <a:solidFill>
            <a:srgbClr val="0C0701"/>
          </a:solidFill>
          <a:ln w="12700">
            <a:solidFill>
              <a:srgbClr val="5E554B"/>
            </a:solidFill>
            <a:prstDash val="dash"/>
          </a:ln>
        </p:spPr>
      </p:sp>
      <p:sp>
        <p:nvSpPr>
          <p:cNvPr id="10" name="Text 8"/>
          <p:cNvSpPr txBox="1"/>
          <p:nvPr/>
        </p:nvSpPr>
        <p:spPr>
          <a:xfrm>
            <a:off x="685800" y="1197864"/>
            <a:ext cx="2743200" cy="201168"/>
          </a:xfrm>
          <a:prstGeom prst="rect">
            <a:avLst/>
          </a:prstGeom>
          <a:noFill/>
          <a:ln/>
        </p:spPr>
        <p:txBody>
          <a:bodyPr wrap="square" lIns="0" tIns="0" rIns="0" bIns="0" rtlCol="0" anchor="ctr"/>
          <a:lstStyle/>
          <a:p>
            <a:pPr marL="0" indent="0">
              <a:buNone/>
            </a:pPr>
            <a:r>
              <a:rPr lang="en-US" sz="750" b="1" kern="0" spc="100" dirty="0">
                <a:solidFill>
                  <a:schemeClr val="accent1"/>
                </a:solidFill>
              </a:rPr>
              <a:t>LEARNER'S MACHINE  ·  LOCALHOST</a:t>
            </a:r>
            <a:endParaRPr lang="en-US" sz="750" dirty="0"/>
          </a:p>
        </p:txBody>
      </p:sp>
      <p:sp>
        <p:nvSpPr>
          <p:cNvPr id="11" name="Web app"/>
          <p:cNvSpPr/>
          <p:nvPr/>
        </p:nvSpPr>
        <p:spPr>
          <a:xfrm>
            <a:off x="685800" y="1463040"/>
            <a:ext cx="1417320" cy="3291840"/>
          </a:xfrm>
          <a:prstGeom prst="roundRect">
            <a:avLst>
              <a:gd name="adj" fmla="val 4516"/>
            </a:avLst>
          </a:prstGeom>
          <a:solidFill>
            <a:schemeClr val="tx2"/>
          </a:solidFill>
          <a:ln w="12700">
            <a:solidFill>
              <a:srgbClr val="3A3026"/>
            </a:solidFill>
            <a:prstDash val="solid"/>
          </a:ln>
        </p:spPr>
      </p:sp>
      <p:sp>
        <p:nvSpPr>
          <p:cNvPr id="12" name="Web app badge"/>
          <p:cNvSpPr/>
          <p:nvPr/>
        </p:nvSpPr>
        <p:spPr>
          <a:xfrm>
            <a:off x="795528" y="1572768"/>
            <a:ext cx="292608" cy="292608"/>
          </a:xfrm>
          <a:prstGeom prst="ellipse">
            <a:avLst/>
          </a:prstGeom>
          <a:solidFill>
            <a:srgbClr val="3A3026"/>
          </a:solidFill>
          <a:ln/>
        </p:spPr>
      </p:sp>
      <p:pic>
        <p:nvPicPr>
          <p:cNvPr id="13" name="Image 0" descr="Web app icon"/>
          <p:cNvPicPr>
            <a:picLocks noChangeAspect="1"/>
          </p:cNvPicPr>
          <p:nvPr/>
        </p:nvPicPr>
        <p:blipFill>
          <a:blip r:embed="rId3"/>
          <a:stretch>
            <a:fillRect/>
          </a:stretch>
        </p:blipFill>
        <p:spPr>
          <a:xfrm>
            <a:off x="859536" y="1636776"/>
            <a:ext cx="164592" cy="164592"/>
          </a:xfrm>
          <a:prstGeom prst="rect">
            <a:avLst/>
          </a:prstGeom>
        </p:spPr>
      </p:pic>
      <p:sp>
        <p:nvSpPr>
          <p:cNvPr id="14" name="Text 11"/>
          <p:cNvSpPr txBox="1"/>
          <p:nvPr/>
        </p:nvSpPr>
        <p:spPr>
          <a:xfrm>
            <a:off x="1161288" y="1554480"/>
            <a:ext cx="868680" cy="201168"/>
          </a:xfrm>
          <a:prstGeom prst="rect">
            <a:avLst/>
          </a:prstGeom>
          <a:noFill/>
          <a:ln/>
        </p:spPr>
        <p:txBody>
          <a:bodyPr wrap="square" lIns="0" tIns="0" rIns="0" bIns="0" rtlCol="0" anchor="ctr"/>
          <a:lstStyle/>
          <a:p>
            <a:pPr marL="0" indent="0">
              <a:buNone/>
            </a:pPr>
            <a:r>
              <a:rPr lang="en-US" sz="1000" b="1" dirty="0">
                <a:solidFill>
                  <a:schemeClr val="bg1"/>
                </a:solidFill>
              </a:rPr>
              <a:t>Web app</a:t>
            </a:r>
            <a:endParaRPr lang="en-US" sz="1000" dirty="0"/>
          </a:p>
        </p:txBody>
      </p:sp>
      <p:sp>
        <p:nvSpPr>
          <p:cNvPr id="15" name="Text 12"/>
          <p:cNvSpPr txBox="1"/>
          <p:nvPr/>
        </p:nvSpPr>
        <p:spPr>
          <a:xfrm>
            <a:off x="1161288" y="1773936"/>
            <a:ext cx="868680" cy="146304"/>
          </a:xfrm>
          <a:prstGeom prst="rect">
            <a:avLst/>
          </a:prstGeom>
          <a:noFill/>
          <a:ln/>
        </p:spPr>
        <p:txBody>
          <a:bodyPr wrap="square" lIns="0" tIns="0" rIns="0" bIns="0" rtlCol="0" anchor="t"/>
          <a:lstStyle/>
          <a:p>
            <a:pPr marL="0" indent="0">
              <a:buNone/>
            </a:pPr>
            <a:r>
              <a:rPr lang="en-US" sz="750" dirty="0">
                <a:solidFill>
                  <a:schemeClr val="bg2"/>
                </a:solidFill>
              </a:rPr>
              <a:t>React · Vite</a:t>
            </a:r>
            <a:endParaRPr lang="en-US" sz="750" dirty="0"/>
          </a:p>
        </p:txBody>
      </p:sp>
      <p:sp>
        <p:nvSpPr>
          <p:cNvPr id="16" name="chip Chat"/>
          <p:cNvSpPr txBox="1"/>
          <p:nvPr/>
        </p:nvSpPr>
        <p:spPr>
          <a:xfrm>
            <a:off x="795528" y="2029968"/>
            <a:ext cx="1197864" cy="274320"/>
          </a:xfrm>
          <a:prstGeom prst="roundRect">
            <a:avLst>
              <a:gd name="adj" fmla="val 13333"/>
            </a:avLst>
          </a:prstGeom>
          <a:solidFill>
            <a:srgbClr val="2C241A"/>
          </a:solidFill>
          <a:ln/>
        </p:spPr>
        <p:txBody>
          <a:bodyPr wrap="square" lIns="0" tIns="50800" rIns="50800" bIns="0" rtlCol="0" anchor="ctr"/>
          <a:lstStyle/>
          <a:p>
            <a:pPr marL="0" indent="0" algn="l">
              <a:buNone/>
            </a:pPr>
            <a:r>
              <a:rPr lang="en-US" sz="800" dirty="0">
                <a:solidFill>
                  <a:schemeClr val="bg1"/>
                </a:solidFill>
              </a:rPr>
              <a:t>Chat</a:t>
            </a:r>
            <a:endParaRPr lang="en-US" sz="800" dirty="0"/>
          </a:p>
        </p:txBody>
      </p:sp>
      <p:sp>
        <p:nvSpPr>
          <p:cNvPr id="17" name="chip Whiteboard"/>
          <p:cNvSpPr txBox="1"/>
          <p:nvPr/>
        </p:nvSpPr>
        <p:spPr>
          <a:xfrm>
            <a:off x="795528" y="2395728"/>
            <a:ext cx="1197864" cy="274320"/>
          </a:xfrm>
          <a:prstGeom prst="roundRect">
            <a:avLst>
              <a:gd name="adj" fmla="val 13333"/>
            </a:avLst>
          </a:prstGeom>
          <a:solidFill>
            <a:srgbClr val="2C241A"/>
          </a:solidFill>
          <a:ln/>
        </p:spPr>
        <p:txBody>
          <a:bodyPr wrap="square" lIns="0" tIns="50800" rIns="50800" bIns="0" rtlCol="0" anchor="ctr"/>
          <a:lstStyle/>
          <a:p>
            <a:pPr marL="0" indent="0" algn="l">
              <a:buNone/>
            </a:pPr>
            <a:r>
              <a:rPr lang="en-US" sz="800" dirty="0">
                <a:solidFill>
                  <a:schemeClr val="bg1"/>
                </a:solidFill>
              </a:rPr>
              <a:t>Whiteboard</a:t>
            </a:r>
            <a:endParaRPr lang="en-US" sz="800" dirty="0"/>
          </a:p>
        </p:txBody>
      </p:sp>
      <p:sp>
        <p:nvSpPr>
          <p:cNvPr id="18" name="chip Quiz"/>
          <p:cNvSpPr txBox="1"/>
          <p:nvPr/>
        </p:nvSpPr>
        <p:spPr>
          <a:xfrm>
            <a:off x="795528" y="2761488"/>
            <a:ext cx="1197864" cy="274320"/>
          </a:xfrm>
          <a:prstGeom prst="roundRect">
            <a:avLst>
              <a:gd name="adj" fmla="val 13333"/>
            </a:avLst>
          </a:prstGeom>
          <a:solidFill>
            <a:srgbClr val="2C241A"/>
          </a:solidFill>
          <a:ln/>
        </p:spPr>
        <p:txBody>
          <a:bodyPr wrap="square" lIns="0" tIns="50800" rIns="50800" bIns="0" rtlCol="0" anchor="ctr"/>
          <a:lstStyle/>
          <a:p>
            <a:pPr marL="0" indent="0" algn="l">
              <a:buNone/>
            </a:pPr>
            <a:r>
              <a:rPr lang="en-US" sz="800" dirty="0">
                <a:solidFill>
                  <a:schemeClr val="bg1"/>
                </a:solidFill>
              </a:rPr>
              <a:t>Quiz</a:t>
            </a:r>
            <a:endParaRPr lang="en-US" sz="800" dirty="0"/>
          </a:p>
        </p:txBody>
      </p:sp>
      <p:sp>
        <p:nvSpPr>
          <p:cNvPr id="19" name="chip Flashcards"/>
          <p:cNvSpPr txBox="1"/>
          <p:nvPr/>
        </p:nvSpPr>
        <p:spPr>
          <a:xfrm>
            <a:off x="795528" y="3127248"/>
            <a:ext cx="1197864" cy="274320"/>
          </a:xfrm>
          <a:prstGeom prst="roundRect">
            <a:avLst>
              <a:gd name="adj" fmla="val 13333"/>
            </a:avLst>
          </a:prstGeom>
          <a:solidFill>
            <a:srgbClr val="2C241A"/>
          </a:solidFill>
          <a:ln/>
        </p:spPr>
        <p:txBody>
          <a:bodyPr wrap="square" lIns="0" tIns="50800" rIns="50800" bIns="0" rtlCol="0" anchor="ctr"/>
          <a:lstStyle/>
          <a:p>
            <a:pPr marL="0" indent="0" algn="l">
              <a:buNone/>
            </a:pPr>
            <a:r>
              <a:rPr lang="en-US" sz="800" dirty="0">
                <a:solidFill>
                  <a:schemeClr val="bg1"/>
                </a:solidFill>
              </a:rPr>
              <a:t>Flashcards</a:t>
            </a:r>
            <a:endParaRPr lang="en-US" sz="800" dirty="0"/>
          </a:p>
        </p:txBody>
      </p:sp>
      <p:sp>
        <p:nvSpPr>
          <p:cNvPr id="20" name="chip Animation player"/>
          <p:cNvSpPr txBox="1"/>
          <p:nvPr/>
        </p:nvSpPr>
        <p:spPr>
          <a:xfrm>
            <a:off x="795528" y="3493008"/>
            <a:ext cx="1197864" cy="274320"/>
          </a:xfrm>
          <a:prstGeom prst="roundRect">
            <a:avLst>
              <a:gd name="adj" fmla="val 13333"/>
            </a:avLst>
          </a:prstGeom>
          <a:solidFill>
            <a:srgbClr val="2C241A"/>
          </a:solidFill>
          <a:ln/>
        </p:spPr>
        <p:txBody>
          <a:bodyPr wrap="square" lIns="0" tIns="50800" rIns="50800" bIns="0" rtlCol="0" anchor="ctr"/>
          <a:lstStyle/>
          <a:p>
            <a:pPr marL="0" indent="0" algn="l">
              <a:buNone/>
            </a:pPr>
            <a:r>
              <a:rPr lang="en-US" sz="800" dirty="0">
                <a:solidFill>
                  <a:schemeClr val="bg1"/>
                </a:solidFill>
              </a:rPr>
              <a:t>Animation player</a:t>
            </a:r>
            <a:endParaRPr lang="en-US" sz="800" dirty="0"/>
          </a:p>
        </p:txBody>
      </p:sp>
      <p:sp>
        <p:nvSpPr>
          <p:cNvPr id="21" name="chip Resource viewer"/>
          <p:cNvSpPr txBox="1"/>
          <p:nvPr/>
        </p:nvSpPr>
        <p:spPr>
          <a:xfrm>
            <a:off x="795528" y="3858768"/>
            <a:ext cx="1197864" cy="274320"/>
          </a:xfrm>
          <a:prstGeom prst="roundRect">
            <a:avLst>
              <a:gd name="adj" fmla="val 13333"/>
            </a:avLst>
          </a:prstGeom>
          <a:solidFill>
            <a:srgbClr val="2C241A"/>
          </a:solidFill>
          <a:ln/>
        </p:spPr>
        <p:txBody>
          <a:bodyPr wrap="square" lIns="0" tIns="50800" rIns="50800" bIns="0" rtlCol="0" anchor="ctr"/>
          <a:lstStyle/>
          <a:p>
            <a:pPr marL="0" indent="0" algn="l">
              <a:buNone/>
            </a:pPr>
            <a:r>
              <a:rPr lang="en-US" sz="800" dirty="0">
                <a:solidFill>
                  <a:schemeClr val="bg1"/>
                </a:solidFill>
              </a:rPr>
              <a:t>Resource viewer</a:t>
            </a:r>
            <a:endParaRPr lang="en-US" sz="800" dirty="0"/>
          </a:p>
        </p:txBody>
      </p:sp>
      <p:sp>
        <p:nvSpPr>
          <p:cNvPr id="22" name="chip Settings dialogs"/>
          <p:cNvSpPr txBox="1"/>
          <p:nvPr/>
        </p:nvSpPr>
        <p:spPr>
          <a:xfrm>
            <a:off x="795528" y="4224528"/>
            <a:ext cx="1197864" cy="274320"/>
          </a:xfrm>
          <a:prstGeom prst="roundRect">
            <a:avLst>
              <a:gd name="adj" fmla="val 13333"/>
            </a:avLst>
          </a:prstGeom>
          <a:solidFill>
            <a:srgbClr val="2C241A"/>
          </a:solidFill>
          <a:ln/>
        </p:spPr>
        <p:txBody>
          <a:bodyPr wrap="square" lIns="0" tIns="50800" rIns="50800" bIns="0" rtlCol="0" anchor="ctr"/>
          <a:lstStyle/>
          <a:p>
            <a:pPr marL="0" indent="0" algn="l">
              <a:buNone/>
            </a:pPr>
            <a:r>
              <a:rPr lang="en-US" sz="800" dirty="0">
                <a:solidFill>
                  <a:schemeClr val="bg1"/>
                </a:solidFill>
              </a:rPr>
              <a:t>Settings dialogs</a:t>
            </a:r>
            <a:endParaRPr lang="en-US" sz="800" dirty="0"/>
          </a:p>
        </p:txBody>
      </p:sp>
      <p:sp>
        <p:nvSpPr>
          <p:cNvPr id="23" name="Web server"/>
          <p:cNvSpPr/>
          <p:nvPr/>
        </p:nvSpPr>
        <p:spPr>
          <a:xfrm>
            <a:off x="2468880" y="1463040"/>
            <a:ext cx="1463040" cy="2706624"/>
          </a:xfrm>
          <a:prstGeom prst="roundRect">
            <a:avLst>
              <a:gd name="adj" fmla="val 4375"/>
            </a:avLst>
          </a:prstGeom>
          <a:solidFill>
            <a:schemeClr val="tx2"/>
          </a:solidFill>
          <a:ln w="12700">
            <a:solidFill>
              <a:srgbClr val="3A3026"/>
            </a:solidFill>
            <a:prstDash val="solid"/>
          </a:ln>
        </p:spPr>
      </p:sp>
      <p:sp>
        <p:nvSpPr>
          <p:cNvPr id="24" name="Web server badge"/>
          <p:cNvSpPr/>
          <p:nvPr/>
        </p:nvSpPr>
        <p:spPr>
          <a:xfrm>
            <a:off x="2578608" y="1572768"/>
            <a:ext cx="292608" cy="292608"/>
          </a:xfrm>
          <a:prstGeom prst="ellipse">
            <a:avLst/>
          </a:prstGeom>
          <a:solidFill>
            <a:srgbClr val="3A3026"/>
          </a:solidFill>
          <a:ln/>
        </p:spPr>
      </p:sp>
      <p:pic>
        <p:nvPicPr>
          <p:cNvPr id="25" name="Image 1" descr="Web server icon"/>
          <p:cNvPicPr>
            <a:picLocks noChangeAspect="1"/>
          </p:cNvPicPr>
          <p:nvPr/>
        </p:nvPicPr>
        <p:blipFill>
          <a:blip r:embed="rId4"/>
          <a:stretch>
            <a:fillRect/>
          </a:stretch>
        </p:blipFill>
        <p:spPr>
          <a:xfrm>
            <a:off x="2642616" y="1636776"/>
            <a:ext cx="164592" cy="164592"/>
          </a:xfrm>
          <a:prstGeom prst="rect">
            <a:avLst/>
          </a:prstGeom>
        </p:spPr>
      </p:pic>
      <p:sp>
        <p:nvSpPr>
          <p:cNvPr id="26" name="Text 22"/>
          <p:cNvSpPr txBox="1"/>
          <p:nvPr/>
        </p:nvSpPr>
        <p:spPr>
          <a:xfrm>
            <a:off x="2944368" y="1554480"/>
            <a:ext cx="914400" cy="201168"/>
          </a:xfrm>
          <a:prstGeom prst="rect">
            <a:avLst/>
          </a:prstGeom>
          <a:noFill/>
          <a:ln/>
        </p:spPr>
        <p:txBody>
          <a:bodyPr wrap="square" lIns="0" tIns="0" rIns="0" bIns="0" rtlCol="0" anchor="ctr"/>
          <a:lstStyle/>
          <a:p>
            <a:pPr marL="0" indent="0">
              <a:buNone/>
            </a:pPr>
            <a:r>
              <a:rPr lang="en-US" sz="1000" b="1" dirty="0">
                <a:solidFill>
                  <a:schemeClr val="bg1"/>
                </a:solidFill>
              </a:rPr>
              <a:t>Web server</a:t>
            </a:r>
            <a:endParaRPr lang="en-US" sz="1000" dirty="0"/>
          </a:p>
        </p:txBody>
      </p:sp>
      <p:sp>
        <p:nvSpPr>
          <p:cNvPr id="27" name="Text 23"/>
          <p:cNvSpPr txBox="1"/>
          <p:nvPr/>
        </p:nvSpPr>
        <p:spPr>
          <a:xfrm>
            <a:off x="2944368" y="1773936"/>
            <a:ext cx="914400" cy="146304"/>
          </a:xfrm>
          <a:prstGeom prst="rect">
            <a:avLst/>
          </a:prstGeom>
          <a:noFill/>
          <a:ln/>
        </p:spPr>
        <p:txBody>
          <a:bodyPr wrap="square" lIns="0" tIns="0" rIns="0" bIns="0" rtlCol="0" anchor="t"/>
          <a:lstStyle/>
          <a:p>
            <a:pPr marL="0" indent="0">
              <a:buNone/>
            </a:pPr>
            <a:r>
              <a:rPr lang="en-US" sz="750" dirty="0">
                <a:solidFill>
                  <a:schemeClr val="bg2"/>
                </a:solidFill>
              </a:rPr>
              <a:t>FastAPI</a:t>
            </a:r>
            <a:endParaRPr lang="en-US" sz="750" dirty="0"/>
          </a:p>
        </p:txBody>
      </p:sp>
      <p:sp>
        <p:nvSpPr>
          <p:cNvPr id="28" name="Text 24"/>
          <p:cNvSpPr txBox="1"/>
          <p:nvPr/>
        </p:nvSpPr>
        <p:spPr>
          <a:xfrm>
            <a:off x="2578608" y="2057400"/>
            <a:ext cx="1243584" cy="420624"/>
          </a:xfrm>
          <a:prstGeom prst="rect">
            <a:avLst/>
          </a:prstGeom>
          <a:noFill/>
          <a:ln/>
        </p:spPr>
        <p:txBody>
          <a:bodyPr wrap="square" lIns="0" tIns="0" rIns="0" bIns="0" rtlCol="0" anchor="t"/>
          <a:lstStyle/>
          <a:p>
            <a:pPr marL="0" indent="0">
              <a:buNone/>
            </a:pPr>
            <a:r>
              <a:rPr lang="en-US" sz="850" b="1" dirty="0">
                <a:solidFill>
                  <a:schemeClr val="bg1"/>
                </a:solidFill>
              </a:rPr>
              <a:t>REST routes</a:t>
            </a:r>
            <a:endParaRPr lang="en-US" sz="850" dirty="0"/>
          </a:p>
          <a:p>
            <a:pPr marL="0" indent="0">
              <a:buNone/>
            </a:pPr>
            <a:r>
              <a:rPr lang="en-US" sz="750" dirty="0">
                <a:solidFill>
                  <a:schemeClr val="bg2"/>
                </a:solidFill>
              </a:rPr>
              <a:t>all app data</a:t>
            </a:r>
            <a:endParaRPr lang="en-US" sz="850" dirty="0"/>
          </a:p>
        </p:txBody>
      </p:sp>
      <p:sp>
        <p:nvSpPr>
          <p:cNvPr id="29" name="Text 25"/>
          <p:cNvSpPr txBox="1"/>
          <p:nvPr/>
        </p:nvSpPr>
        <p:spPr>
          <a:xfrm>
            <a:off x="2578608" y="2569464"/>
            <a:ext cx="1243584" cy="420624"/>
          </a:xfrm>
          <a:prstGeom prst="rect">
            <a:avLst/>
          </a:prstGeom>
          <a:noFill/>
          <a:ln/>
        </p:spPr>
        <p:txBody>
          <a:bodyPr wrap="square" lIns="0" tIns="0" rIns="0" bIns="0" rtlCol="0" anchor="t"/>
          <a:lstStyle/>
          <a:p>
            <a:pPr marL="0" indent="0">
              <a:buNone/>
            </a:pPr>
            <a:r>
              <a:rPr lang="en-US" sz="850" b="1" dirty="0">
                <a:solidFill>
                  <a:schemeClr val="bg1"/>
                </a:solidFill>
              </a:rPr>
              <a:t>Streamed replies</a:t>
            </a:r>
            <a:endParaRPr lang="en-US" sz="850" dirty="0"/>
          </a:p>
          <a:p>
            <a:pPr marL="0" indent="0">
              <a:buNone/>
            </a:pPr>
            <a:r>
              <a:rPr lang="en-US" sz="750" dirty="0">
                <a:solidFill>
                  <a:schemeClr val="bg2"/>
                </a:solidFill>
              </a:rPr>
              <a:t>SSE from the agent</a:t>
            </a:r>
            <a:endParaRPr lang="en-US" sz="850" dirty="0"/>
          </a:p>
        </p:txBody>
      </p:sp>
      <p:sp>
        <p:nvSpPr>
          <p:cNvPr id="30" name="Text 26"/>
          <p:cNvSpPr txBox="1"/>
          <p:nvPr/>
        </p:nvSpPr>
        <p:spPr>
          <a:xfrm>
            <a:off x="2578608" y="3081528"/>
            <a:ext cx="1243584" cy="420624"/>
          </a:xfrm>
          <a:prstGeom prst="rect">
            <a:avLst/>
          </a:prstGeom>
          <a:noFill/>
          <a:ln/>
        </p:spPr>
        <p:txBody>
          <a:bodyPr wrap="square" lIns="0" tIns="0" rIns="0" bIns="0" rtlCol="0" anchor="t"/>
          <a:lstStyle/>
          <a:p>
            <a:pPr marL="0" indent="0">
              <a:buNone/>
            </a:pPr>
            <a:r>
              <a:rPr lang="en-US" sz="850" b="1" dirty="0">
                <a:solidFill>
                  <a:schemeClr val="bg1"/>
                </a:solidFill>
              </a:rPr>
              <a:t>Tool handlers</a:t>
            </a:r>
            <a:endParaRPr lang="en-US" sz="850" dirty="0"/>
          </a:p>
          <a:p>
            <a:pPr marL="0" indent="0">
              <a:buNone/>
            </a:pPr>
            <a:r>
              <a:rPr lang="en-US" sz="750" dirty="0">
                <a:solidFill>
                  <a:schemeClr val="bg2"/>
                </a:solidFill>
              </a:rPr>
              <a:t>save what the agent makes</a:t>
            </a:r>
            <a:endParaRPr lang="en-US" sz="850" dirty="0"/>
          </a:p>
        </p:txBody>
      </p:sp>
      <p:sp>
        <p:nvSpPr>
          <p:cNvPr id="31" name="Text 27"/>
          <p:cNvSpPr txBox="1"/>
          <p:nvPr/>
        </p:nvSpPr>
        <p:spPr>
          <a:xfrm>
            <a:off x="2578608" y="3593592"/>
            <a:ext cx="1243584" cy="420624"/>
          </a:xfrm>
          <a:prstGeom prst="rect">
            <a:avLst/>
          </a:prstGeom>
          <a:noFill/>
          <a:ln/>
        </p:spPr>
        <p:txBody>
          <a:bodyPr wrap="square" lIns="0" tIns="0" rIns="0" bIns="0" rtlCol="0" anchor="t"/>
          <a:lstStyle/>
          <a:p>
            <a:pPr marL="0" indent="0">
              <a:buNone/>
            </a:pPr>
            <a:r>
              <a:rPr lang="en-US" sz="850" b="1" dirty="0">
                <a:solidFill>
                  <a:schemeClr val="bg1"/>
                </a:solidFill>
              </a:rPr>
              <a:t>Optional sign-in</a:t>
            </a:r>
            <a:endParaRPr lang="en-US" sz="850" dirty="0"/>
          </a:p>
          <a:p>
            <a:pPr marL="0" indent="0">
              <a:buNone/>
            </a:pPr>
            <a:r>
              <a:rPr lang="en-US" sz="750" dirty="0">
                <a:solidFill>
                  <a:schemeClr val="bg2"/>
                </a:solidFill>
              </a:rPr>
              <a:t>guards the profile</a:t>
            </a:r>
            <a:endParaRPr lang="en-US" sz="850" dirty="0"/>
          </a:p>
        </p:txBody>
      </p:sp>
      <p:sp>
        <p:nvSpPr>
          <p:cNvPr id="32" name="Teaching agent"/>
          <p:cNvSpPr/>
          <p:nvPr/>
        </p:nvSpPr>
        <p:spPr>
          <a:xfrm>
            <a:off x="4297680" y="1463040"/>
            <a:ext cx="2468880" cy="1188720"/>
          </a:xfrm>
          <a:prstGeom prst="roundRect">
            <a:avLst>
              <a:gd name="adj" fmla="val 5385"/>
            </a:avLst>
          </a:prstGeom>
          <a:solidFill>
            <a:schemeClr val="tx2"/>
          </a:solidFill>
          <a:ln w="12700">
            <a:solidFill>
              <a:srgbClr val="3A3026"/>
            </a:solidFill>
            <a:prstDash val="solid"/>
          </a:ln>
        </p:spPr>
      </p:sp>
      <p:sp>
        <p:nvSpPr>
          <p:cNvPr id="33" name="Teaching agent badge"/>
          <p:cNvSpPr/>
          <p:nvPr/>
        </p:nvSpPr>
        <p:spPr>
          <a:xfrm>
            <a:off x="4407408" y="1572768"/>
            <a:ext cx="292608" cy="292608"/>
          </a:xfrm>
          <a:prstGeom prst="ellipse">
            <a:avLst/>
          </a:prstGeom>
          <a:solidFill>
            <a:schemeClr val="accent1"/>
          </a:solidFill>
          <a:ln/>
        </p:spPr>
      </p:sp>
      <p:pic>
        <p:nvPicPr>
          <p:cNvPr id="34" name="Image 2" descr="Teaching agent icon"/>
          <p:cNvPicPr>
            <a:picLocks noChangeAspect="1"/>
          </p:cNvPicPr>
          <p:nvPr/>
        </p:nvPicPr>
        <p:blipFill>
          <a:blip r:embed="rId5"/>
          <a:stretch>
            <a:fillRect/>
          </a:stretch>
        </p:blipFill>
        <p:spPr>
          <a:xfrm>
            <a:off x="4471416" y="1636776"/>
            <a:ext cx="164592" cy="164592"/>
          </a:xfrm>
          <a:prstGeom prst="rect">
            <a:avLst/>
          </a:prstGeom>
        </p:spPr>
      </p:pic>
      <p:sp>
        <p:nvSpPr>
          <p:cNvPr id="35" name="Text 30"/>
          <p:cNvSpPr txBox="1"/>
          <p:nvPr/>
        </p:nvSpPr>
        <p:spPr>
          <a:xfrm>
            <a:off x="4773168" y="1554480"/>
            <a:ext cx="1920240" cy="201168"/>
          </a:xfrm>
          <a:prstGeom prst="rect">
            <a:avLst/>
          </a:prstGeom>
          <a:noFill/>
          <a:ln/>
        </p:spPr>
        <p:txBody>
          <a:bodyPr wrap="square" lIns="0" tIns="0" rIns="0" bIns="0" rtlCol="0" anchor="ctr"/>
          <a:lstStyle/>
          <a:p>
            <a:pPr marL="0" indent="0">
              <a:buNone/>
            </a:pPr>
            <a:r>
              <a:rPr lang="en-US" sz="1000" b="1" dirty="0">
                <a:solidFill>
                  <a:schemeClr val="bg1"/>
                </a:solidFill>
              </a:rPr>
              <a:t>Teaching agent</a:t>
            </a:r>
            <a:endParaRPr lang="en-US" sz="1000" dirty="0"/>
          </a:p>
        </p:txBody>
      </p:sp>
      <p:sp>
        <p:nvSpPr>
          <p:cNvPr id="36" name="Text 31"/>
          <p:cNvSpPr txBox="1"/>
          <p:nvPr/>
        </p:nvSpPr>
        <p:spPr>
          <a:xfrm>
            <a:off x="4773168" y="1773936"/>
            <a:ext cx="1920240" cy="274320"/>
          </a:xfrm>
          <a:prstGeom prst="rect">
            <a:avLst/>
          </a:prstGeom>
          <a:noFill/>
          <a:ln/>
        </p:spPr>
        <p:txBody>
          <a:bodyPr wrap="square" lIns="0" tIns="0" rIns="0" bIns="0" rtlCol="0" anchor="t"/>
          <a:lstStyle/>
          <a:p>
            <a:pPr marL="0" indent="0">
              <a:buNone/>
            </a:pPr>
            <a:r>
              <a:rPr lang="en-US" sz="750" dirty="0">
                <a:solidFill>
                  <a:schemeClr val="bg2"/>
                </a:solidFill>
              </a:rPr>
              <a:t>One live Claude Code process per open session</a:t>
            </a:r>
            <a:endParaRPr lang="en-US" sz="750" dirty="0"/>
          </a:p>
        </p:txBody>
      </p:sp>
      <p:sp>
        <p:nvSpPr>
          <p:cNvPr id="37" name="chip Quiz"/>
          <p:cNvSpPr txBox="1"/>
          <p:nvPr/>
        </p:nvSpPr>
        <p:spPr>
          <a:xfrm>
            <a:off x="4407408" y="2139696"/>
            <a:ext cx="329184" cy="201168"/>
          </a:xfrm>
          <a:prstGeom prst="roundRect">
            <a:avLst>
              <a:gd name="adj" fmla="val 18182"/>
            </a:avLst>
          </a:prstGeom>
          <a:solidFill>
            <a:srgbClr val="2C241A"/>
          </a:solidFill>
          <a:ln/>
        </p:spPr>
        <p:txBody>
          <a:bodyPr wrap="square" lIns="0" tIns="50800" rIns="50800" bIns="0" rtlCol="0" anchor="ctr"/>
          <a:lstStyle/>
          <a:p>
            <a:pPr marL="0" indent="0" algn="ctr">
              <a:buNone/>
            </a:pPr>
            <a:r>
              <a:rPr lang="en-US" sz="750" dirty="0">
                <a:solidFill>
                  <a:schemeClr val="bg1"/>
                </a:solidFill>
              </a:rPr>
              <a:t>Quiz</a:t>
            </a:r>
            <a:endParaRPr lang="en-US" sz="750" dirty="0"/>
          </a:p>
        </p:txBody>
      </p:sp>
      <p:sp>
        <p:nvSpPr>
          <p:cNvPr id="38" name="chip Whiteboard ×4"/>
          <p:cNvSpPr txBox="1"/>
          <p:nvPr/>
        </p:nvSpPr>
        <p:spPr>
          <a:xfrm>
            <a:off x="4782312" y="2139696"/>
            <a:ext cx="822960" cy="201168"/>
          </a:xfrm>
          <a:prstGeom prst="roundRect">
            <a:avLst>
              <a:gd name="adj" fmla="val 18182"/>
            </a:avLst>
          </a:prstGeom>
          <a:solidFill>
            <a:srgbClr val="2C241A"/>
          </a:solidFill>
          <a:ln/>
        </p:spPr>
        <p:txBody>
          <a:bodyPr wrap="square" lIns="0" tIns="50800" rIns="50800" bIns="0" rtlCol="0" anchor="ctr"/>
          <a:lstStyle/>
          <a:p>
            <a:pPr marL="0" indent="0" algn="ctr">
              <a:buNone/>
            </a:pPr>
            <a:r>
              <a:rPr lang="en-US" sz="750" dirty="0">
                <a:solidFill>
                  <a:schemeClr val="bg1"/>
                </a:solidFill>
              </a:rPr>
              <a:t>Whiteboard</a:t>
            </a:r>
            <a:endParaRPr lang="en-US" sz="750" dirty="0"/>
          </a:p>
        </p:txBody>
      </p:sp>
      <p:sp>
        <p:nvSpPr>
          <p:cNvPr id="39" name="chip Animation"/>
          <p:cNvSpPr txBox="1"/>
          <p:nvPr/>
        </p:nvSpPr>
        <p:spPr>
          <a:xfrm>
            <a:off x="5650992" y="2139696"/>
            <a:ext cx="603504" cy="201168"/>
          </a:xfrm>
          <a:prstGeom prst="roundRect">
            <a:avLst>
              <a:gd name="adj" fmla="val 18182"/>
            </a:avLst>
          </a:prstGeom>
          <a:solidFill>
            <a:srgbClr val="2C241A"/>
          </a:solidFill>
          <a:ln/>
        </p:spPr>
        <p:txBody>
          <a:bodyPr wrap="square" lIns="0" tIns="50800" rIns="50800" bIns="0" rtlCol="0" anchor="ctr"/>
          <a:lstStyle/>
          <a:p>
            <a:pPr marL="0" indent="0" algn="ctr">
              <a:buNone/>
            </a:pPr>
            <a:r>
              <a:rPr lang="en-US" sz="750" dirty="0">
                <a:solidFill>
                  <a:schemeClr val="bg1"/>
                </a:solidFill>
              </a:rPr>
              <a:t>Animation</a:t>
            </a:r>
            <a:endParaRPr lang="en-US" sz="750" dirty="0"/>
          </a:p>
        </p:txBody>
      </p:sp>
      <p:sp>
        <p:nvSpPr>
          <p:cNvPr id="40" name="chip Read resource"/>
          <p:cNvSpPr txBox="1"/>
          <p:nvPr/>
        </p:nvSpPr>
        <p:spPr>
          <a:xfrm>
            <a:off x="4407408" y="2377440"/>
            <a:ext cx="822960" cy="201168"/>
          </a:xfrm>
          <a:prstGeom prst="roundRect">
            <a:avLst>
              <a:gd name="adj" fmla="val 18182"/>
            </a:avLst>
          </a:prstGeom>
          <a:solidFill>
            <a:srgbClr val="2C241A"/>
          </a:solidFill>
          <a:ln/>
        </p:spPr>
        <p:txBody>
          <a:bodyPr wrap="square" lIns="0" tIns="50800" rIns="50800" bIns="0" rtlCol="0" anchor="ctr"/>
          <a:lstStyle/>
          <a:p>
            <a:pPr marL="0" indent="0" algn="ctr">
              <a:buNone/>
            </a:pPr>
            <a:r>
              <a:rPr lang="en-US" sz="750" dirty="0">
                <a:solidFill>
                  <a:schemeClr val="bg1"/>
                </a:solidFill>
              </a:rPr>
              <a:t>Read resource</a:t>
            </a:r>
            <a:endParaRPr lang="en-US" sz="750" dirty="0"/>
          </a:p>
        </p:txBody>
      </p:sp>
      <p:sp>
        <p:nvSpPr>
          <p:cNvPr id="41" name="chip Flashcards"/>
          <p:cNvSpPr txBox="1"/>
          <p:nvPr/>
        </p:nvSpPr>
        <p:spPr>
          <a:xfrm>
            <a:off x="5276088" y="2377440"/>
            <a:ext cx="658368" cy="201168"/>
          </a:xfrm>
          <a:prstGeom prst="roundRect">
            <a:avLst>
              <a:gd name="adj" fmla="val 18182"/>
            </a:avLst>
          </a:prstGeom>
          <a:solidFill>
            <a:srgbClr val="2C241A"/>
          </a:solidFill>
          <a:ln/>
        </p:spPr>
        <p:txBody>
          <a:bodyPr wrap="square" lIns="0" tIns="50800" rIns="50800" bIns="0" rtlCol="0" anchor="ctr"/>
          <a:lstStyle/>
          <a:p>
            <a:pPr marL="0" indent="0" algn="ctr">
              <a:buNone/>
            </a:pPr>
            <a:r>
              <a:rPr lang="en-US" sz="750" dirty="0">
                <a:solidFill>
                  <a:schemeClr val="bg1"/>
                </a:solidFill>
              </a:rPr>
              <a:t>Flashcards</a:t>
            </a:r>
            <a:endParaRPr lang="en-US" sz="750" dirty="0"/>
          </a:p>
        </p:txBody>
      </p:sp>
      <p:sp>
        <p:nvSpPr>
          <p:cNvPr id="42" name="chip Web pages"/>
          <p:cNvSpPr txBox="1"/>
          <p:nvPr/>
        </p:nvSpPr>
        <p:spPr>
          <a:xfrm>
            <a:off x="5980176" y="2377440"/>
            <a:ext cx="603504" cy="201168"/>
          </a:xfrm>
          <a:prstGeom prst="roundRect">
            <a:avLst>
              <a:gd name="adj" fmla="val 18182"/>
            </a:avLst>
          </a:prstGeom>
          <a:solidFill>
            <a:srgbClr val="2C241A"/>
          </a:solidFill>
          <a:ln/>
        </p:spPr>
        <p:txBody>
          <a:bodyPr wrap="square" lIns="0" tIns="50800" rIns="50800" bIns="0" rtlCol="0" anchor="ctr"/>
          <a:lstStyle/>
          <a:p>
            <a:pPr marL="0" indent="0" algn="ctr">
              <a:buNone/>
            </a:pPr>
            <a:r>
              <a:rPr lang="en-US" sz="750" dirty="0">
                <a:solidFill>
                  <a:schemeClr val="bg1"/>
                </a:solidFill>
              </a:rPr>
              <a:t>Web pages</a:t>
            </a:r>
            <a:endParaRPr lang="en-US" sz="750" dirty="0"/>
          </a:p>
        </p:txBody>
      </p:sp>
      <p:sp>
        <p:nvSpPr>
          <p:cNvPr id="43" name="Claude-call queue"/>
          <p:cNvSpPr/>
          <p:nvPr/>
        </p:nvSpPr>
        <p:spPr>
          <a:xfrm>
            <a:off x="4297680" y="2788920"/>
            <a:ext cx="2468880" cy="621792"/>
          </a:xfrm>
          <a:prstGeom prst="roundRect">
            <a:avLst>
              <a:gd name="adj" fmla="val 10294"/>
            </a:avLst>
          </a:prstGeom>
          <a:solidFill>
            <a:schemeClr val="tx2"/>
          </a:solidFill>
          <a:ln w="12700">
            <a:solidFill>
              <a:srgbClr val="3A3026"/>
            </a:solidFill>
            <a:prstDash val="solid"/>
          </a:ln>
        </p:spPr>
      </p:sp>
      <p:sp>
        <p:nvSpPr>
          <p:cNvPr id="44" name="Claude-call queue badge"/>
          <p:cNvSpPr/>
          <p:nvPr/>
        </p:nvSpPr>
        <p:spPr>
          <a:xfrm>
            <a:off x="4407408" y="2953512"/>
            <a:ext cx="292608" cy="292608"/>
          </a:xfrm>
          <a:prstGeom prst="ellipse">
            <a:avLst/>
          </a:prstGeom>
          <a:solidFill>
            <a:schemeClr val="accent1"/>
          </a:solidFill>
          <a:ln/>
        </p:spPr>
      </p:sp>
      <p:pic>
        <p:nvPicPr>
          <p:cNvPr id="45" name="Image 3" descr="Claude-call queue icon"/>
          <p:cNvPicPr>
            <a:picLocks noChangeAspect="1"/>
          </p:cNvPicPr>
          <p:nvPr/>
        </p:nvPicPr>
        <p:blipFill>
          <a:blip r:embed="rId6"/>
          <a:stretch>
            <a:fillRect/>
          </a:stretch>
        </p:blipFill>
        <p:spPr>
          <a:xfrm>
            <a:off x="4471416" y="3017520"/>
            <a:ext cx="164592" cy="164592"/>
          </a:xfrm>
          <a:prstGeom prst="rect">
            <a:avLst/>
          </a:prstGeom>
        </p:spPr>
      </p:pic>
      <p:sp>
        <p:nvSpPr>
          <p:cNvPr id="46" name="Text 40"/>
          <p:cNvSpPr txBox="1"/>
          <p:nvPr/>
        </p:nvSpPr>
        <p:spPr>
          <a:xfrm>
            <a:off x="4773168" y="2862072"/>
            <a:ext cx="1920240" cy="201168"/>
          </a:xfrm>
          <a:prstGeom prst="rect">
            <a:avLst/>
          </a:prstGeom>
          <a:noFill/>
          <a:ln/>
        </p:spPr>
        <p:txBody>
          <a:bodyPr wrap="square" lIns="0" tIns="0" rIns="0" bIns="0" rtlCol="0" anchor="ctr"/>
          <a:lstStyle/>
          <a:p>
            <a:pPr marL="0" indent="0">
              <a:buNone/>
            </a:pPr>
            <a:r>
              <a:rPr lang="en-US" sz="1000" b="1" dirty="0">
                <a:solidFill>
                  <a:schemeClr val="bg1"/>
                </a:solidFill>
              </a:rPr>
              <a:t>Claude-call queue</a:t>
            </a:r>
            <a:endParaRPr lang="en-US" sz="1000" dirty="0"/>
          </a:p>
        </p:txBody>
      </p:sp>
      <p:sp>
        <p:nvSpPr>
          <p:cNvPr id="47" name="Text 41"/>
          <p:cNvSpPr txBox="1"/>
          <p:nvPr/>
        </p:nvSpPr>
        <p:spPr>
          <a:xfrm>
            <a:off x="4773168" y="3081528"/>
            <a:ext cx="1920240" cy="274320"/>
          </a:xfrm>
          <a:prstGeom prst="rect">
            <a:avLst/>
          </a:prstGeom>
          <a:noFill/>
          <a:ln/>
        </p:spPr>
        <p:txBody>
          <a:bodyPr wrap="square" lIns="0" tIns="0" rIns="0" bIns="0" rtlCol="0" anchor="t"/>
          <a:lstStyle/>
          <a:p>
            <a:pPr marL="0" indent="0">
              <a:buNone/>
            </a:pPr>
            <a:r>
              <a:rPr lang="en-US" sz="750" dirty="0">
                <a:solidFill>
                  <a:schemeClr val="bg2"/>
                </a:solidFill>
              </a:rPr>
              <a:t>2 threads: session title, profile pass, answer-key check</a:t>
            </a:r>
            <a:endParaRPr lang="en-US" sz="750" dirty="0"/>
          </a:p>
        </p:txBody>
      </p:sp>
      <p:sp>
        <p:nvSpPr>
          <p:cNvPr id="48" name="Animation queue"/>
          <p:cNvSpPr/>
          <p:nvPr/>
        </p:nvSpPr>
        <p:spPr>
          <a:xfrm>
            <a:off x="4297680" y="3547872"/>
            <a:ext cx="2468880" cy="621792"/>
          </a:xfrm>
          <a:prstGeom prst="roundRect">
            <a:avLst>
              <a:gd name="adj" fmla="val 10294"/>
            </a:avLst>
          </a:prstGeom>
          <a:solidFill>
            <a:schemeClr val="tx2"/>
          </a:solidFill>
          <a:ln w="12700">
            <a:solidFill>
              <a:srgbClr val="3A3026"/>
            </a:solidFill>
            <a:prstDash val="solid"/>
          </a:ln>
        </p:spPr>
      </p:sp>
      <p:sp>
        <p:nvSpPr>
          <p:cNvPr id="49" name="Animation queue badge"/>
          <p:cNvSpPr/>
          <p:nvPr/>
        </p:nvSpPr>
        <p:spPr>
          <a:xfrm>
            <a:off x="4407408" y="3712464"/>
            <a:ext cx="292608" cy="292608"/>
          </a:xfrm>
          <a:prstGeom prst="ellipse">
            <a:avLst/>
          </a:prstGeom>
          <a:solidFill>
            <a:schemeClr val="accent1"/>
          </a:solidFill>
          <a:ln/>
        </p:spPr>
      </p:sp>
      <p:pic>
        <p:nvPicPr>
          <p:cNvPr id="50" name="Image 4" descr="Animation queue icon"/>
          <p:cNvPicPr>
            <a:picLocks noChangeAspect="1"/>
          </p:cNvPicPr>
          <p:nvPr/>
        </p:nvPicPr>
        <p:blipFill>
          <a:blip r:embed="rId7"/>
          <a:stretch>
            <a:fillRect/>
          </a:stretch>
        </p:blipFill>
        <p:spPr>
          <a:xfrm>
            <a:off x="4471416" y="3776472"/>
            <a:ext cx="164592" cy="164592"/>
          </a:xfrm>
          <a:prstGeom prst="rect">
            <a:avLst/>
          </a:prstGeom>
        </p:spPr>
      </p:pic>
      <p:sp>
        <p:nvSpPr>
          <p:cNvPr id="51" name="Text 44"/>
          <p:cNvSpPr txBox="1"/>
          <p:nvPr/>
        </p:nvSpPr>
        <p:spPr>
          <a:xfrm>
            <a:off x="4773168" y="3621024"/>
            <a:ext cx="1920240" cy="201168"/>
          </a:xfrm>
          <a:prstGeom prst="rect">
            <a:avLst/>
          </a:prstGeom>
          <a:noFill/>
          <a:ln/>
        </p:spPr>
        <p:txBody>
          <a:bodyPr wrap="square" lIns="0" tIns="0" rIns="0" bIns="0" rtlCol="0" anchor="ctr"/>
          <a:lstStyle/>
          <a:p>
            <a:pPr marL="0" indent="0">
              <a:buNone/>
            </a:pPr>
            <a:r>
              <a:rPr lang="en-US" sz="1000" b="1" dirty="0">
                <a:solidFill>
                  <a:schemeClr val="bg1"/>
                </a:solidFill>
              </a:rPr>
              <a:t>Animation queue</a:t>
            </a:r>
            <a:endParaRPr lang="en-US" sz="1000" dirty="0"/>
          </a:p>
        </p:txBody>
      </p:sp>
      <p:sp>
        <p:nvSpPr>
          <p:cNvPr id="52" name="Text 45"/>
          <p:cNvSpPr txBox="1"/>
          <p:nvPr/>
        </p:nvSpPr>
        <p:spPr>
          <a:xfrm>
            <a:off x="4773168" y="3840480"/>
            <a:ext cx="1920240" cy="274320"/>
          </a:xfrm>
          <a:prstGeom prst="rect">
            <a:avLst/>
          </a:prstGeom>
          <a:noFill/>
          <a:ln/>
        </p:spPr>
        <p:txBody>
          <a:bodyPr wrap="square" lIns="0" tIns="0" rIns="0" bIns="0" rtlCol="0" anchor="t"/>
          <a:lstStyle/>
          <a:p>
            <a:pPr marL="0" indent="0">
              <a:buNone/>
            </a:pPr>
            <a:r>
              <a:rPr lang="en-US" sz="750" dirty="0">
                <a:solidFill>
                  <a:schemeClr val="bg2"/>
                </a:solidFill>
              </a:rPr>
              <a:t>2 workers: the Lottie writer, or Manim in a child process</a:t>
            </a:r>
            <a:endParaRPr lang="en-US" sz="750" dirty="0"/>
          </a:p>
        </p:txBody>
      </p:sp>
      <p:sp>
        <p:nvSpPr>
          <p:cNvPr id="53" name="Data on disk"/>
          <p:cNvSpPr/>
          <p:nvPr/>
        </p:nvSpPr>
        <p:spPr>
          <a:xfrm>
            <a:off x="2468880" y="4370832"/>
            <a:ext cx="4297680" cy="384048"/>
          </a:xfrm>
          <a:prstGeom prst="roundRect">
            <a:avLst>
              <a:gd name="adj" fmla="val 16667"/>
            </a:avLst>
          </a:prstGeom>
          <a:solidFill>
            <a:srgbClr val="2C241A"/>
          </a:solidFill>
          <a:ln w="12700">
            <a:solidFill>
              <a:srgbClr val="3A3026"/>
            </a:solidFill>
            <a:prstDash val="solid"/>
          </a:ln>
        </p:spPr>
      </p:sp>
      <p:sp>
        <p:nvSpPr>
          <p:cNvPr id="54" name="Data on disk badge"/>
          <p:cNvSpPr/>
          <p:nvPr/>
        </p:nvSpPr>
        <p:spPr>
          <a:xfrm>
            <a:off x="2560320" y="4416552"/>
            <a:ext cx="292608" cy="292608"/>
          </a:xfrm>
          <a:prstGeom prst="ellipse">
            <a:avLst/>
          </a:prstGeom>
          <a:solidFill>
            <a:srgbClr val="3A3026"/>
          </a:solidFill>
          <a:ln/>
        </p:spPr>
      </p:sp>
      <p:pic>
        <p:nvPicPr>
          <p:cNvPr id="55" name="Image 5" descr="Data on disk icon"/>
          <p:cNvPicPr>
            <a:picLocks noChangeAspect="1"/>
          </p:cNvPicPr>
          <p:nvPr/>
        </p:nvPicPr>
        <p:blipFill>
          <a:blip r:embed="rId8"/>
          <a:stretch>
            <a:fillRect/>
          </a:stretch>
        </p:blipFill>
        <p:spPr>
          <a:xfrm>
            <a:off x="2624328" y="4480560"/>
            <a:ext cx="164592" cy="164592"/>
          </a:xfrm>
          <a:prstGeom prst="rect">
            <a:avLst/>
          </a:prstGeom>
        </p:spPr>
      </p:pic>
      <p:sp>
        <p:nvSpPr>
          <p:cNvPr id="56" name="Text 48"/>
          <p:cNvSpPr txBox="1"/>
          <p:nvPr/>
        </p:nvSpPr>
        <p:spPr>
          <a:xfrm>
            <a:off x="2926080" y="4370832"/>
            <a:ext cx="1005840" cy="384048"/>
          </a:xfrm>
          <a:prstGeom prst="rect">
            <a:avLst/>
          </a:prstGeom>
          <a:noFill/>
          <a:ln/>
        </p:spPr>
        <p:txBody>
          <a:bodyPr wrap="square" lIns="0" tIns="0" rIns="0" bIns="0" rtlCol="0" anchor="ctr"/>
          <a:lstStyle/>
          <a:p>
            <a:pPr marL="0" indent="0">
              <a:buNone/>
            </a:pPr>
            <a:r>
              <a:rPr lang="en-US" sz="900" b="1" dirty="0">
                <a:solidFill>
                  <a:schemeClr val="bg1"/>
                </a:solidFill>
              </a:rPr>
              <a:t>Data on disk</a:t>
            </a:r>
            <a:endParaRPr lang="en-US" sz="900" dirty="0"/>
          </a:p>
        </p:txBody>
      </p:sp>
      <p:sp>
        <p:nvSpPr>
          <p:cNvPr id="57" name="Text 49"/>
          <p:cNvSpPr txBox="1"/>
          <p:nvPr/>
        </p:nvSpPr>
        <p:spPr>
          <a:xfrm>
            <a:off x="3840480" y="4370832"/>
            <a:ext cx="2834640" cy="384048"/>
          </a:xfrm>
          <a:prstGeom prst="rect">
            <a:avLst/>
          </a:prstGeom>
          <a:noFill/>
          <a:ln/>
        </p:spPr>
        <p:txBody>
          <a:bodyPr wrap="square" lIns="0" tIns="0" rIns="0" bIns="0" rtlCol="0" anchor="ctr"/>
          <a:lstStyle/>
          <a:p>
            <a:pPr marL="0" indent="0">
              <a:buNone/>
            </a:pPr>
            <a:r>
              <a:rPr lang="en-US" sz="750" b="1" dirty="0">
                <a:solidFill>
                  <a:schemeClr val="bg1"/>
                </a:solidFill>
              </a:rPr>
              <a:t>polaris.db</a:t>
            </a:r>
            <a:r>
              <a:rPr lang="en-US" sz="750" dirty="0">
                <a:solidFill>
                  <a:schemeClr val="bg2"/>
                </a:solidFill>
              </a:rPr>
              <a:t> (SQLite)  ·  uploaded files  ·  animations</a:t>
            </a:r>
            <a:endParaRPr lang="en-US" sz="750" dirty="0"/>
          </a:p>
        </p:txBody>
      </p:sp>
      <p:sp>
        <p:nvSpPr>
          <p:cNvPr id="58" name="Public web"/>
          <p:cNvSpPr/>
          <p:nvPr/>
        </p:nvSpPr>
        <p:spPr>
          <a:xfrm>
            <a:off x="7086600" y="1463040"/>
            <a:ext cx="1508760" cy="685800"/>
          </a:xfrm>
          <a:prstGeom prst="roundRect">
            <a:avLst>
              <a:gd name="adj" fmla="val 9333"/>
            </a:avLst>
          </a:prstGeom>
          <a:solidFill>
            <a:schemeClr val="tx2"/>
          </a:solidFill>
          <a:ln w="12700">
            <a:solidFill>
              <a:srgbClr val="3A3026"/>
            </a:solidFill>
            <a:prstDash val="solid"/>
          </a:ln>
        </p:spPr>
      </p:sp>
      <p:sp>
        <p:nvSpPr>
          <p:cNvPr id="59" name="Public web badge"/>
          <p:cNvSpPr/>
          <p:nvPr/>
        </p:nvSpPr>
        <p:spPr>
          <a:xfrm>
            <a:off x="7196328" y="1554480"/>
            <a:ext cx="292608" cy="292608"/>
          </a:xfrm>
          <a:prstGeom prst="ellipse">
            <a:avLst/>
          </a:prstGeom>
          <a:solidFill>
            <a:srgbClr val="3A3026"/>
          </a:solidFill>
          <a:ln/>
        </p:spPr>
      </p:sp>
      <p:pic>
        <p:nvPicPr>
          <p:cNvPr id="60" name="Image 6" descr="Public web icon"/>
          <p:cNvPicPr>
            <a:picLocks noChangeAspect="1"/>
          </p:cNvPicPr>
          <p:nvPr/>
        </p:nvPicPr>
        <p:blipFill>
          <a:blip r:embed="rId9"/>
          <a:stretch>
            <a:fillRect/>
          </a:stretch>
        </p:blipFill>
        <p:spPr>
          <a:xfrm>
            <a:off x="7260336" y="1618488"/>
            <a:ext cx="164592" cy="164592"/>
          </a:xfrm>
          <a:prstGeom prst="rect">
            <a:avLst/>
          </a:prstGeom>
        </p:spPr>
      </p:pic>
      <p:sp>
        <p:nvSpPr>
          <p:cNvPr id="61" name="Text 52"/>
          <p:cNvSpPr txBox="1"/>
          <p:nvPr/>
        </p:nvSpPr>
        <p:spPr>
          <a:xfrm>
            <a:off x="7562088" y="1600200"/>
            <a:ext cx="960120" cy="201168"/>
          </a:xfrm>
          <a:prstGeom prst="rect">
            <a:avLst/>
          </a:prstGeom>
          <a:noFill/>
          <a:ln/>
        </p:spPr>
        <p:txBody>
          <a:bodyPr wrap="square" lIns="0" tIns="0" rIns="0" bIns="0" rtlCol="0" anchor="ctr"/>
          <a:lstStyle/>
          <a:p>
            <a:pPr marL="0" indent="0">
              <a:buNone/>
            </a:pPr>
            <a:r>
              <a:rPr lang="en-US" sz="1000" b="1" dirty="0">
                <a:solidFill>
                  <a:schemeClr val="bg1"/>
                </a:solidFill>
              </a:rPr>
              <a:t>Public web</a:t>
            </a:r>
            <a:endParaRPr lang="en-US" sz="1000" dirty="0"/>
          </a:p>
        </p:txBody>
      </p:sp>
      <p:sp>
        <p:nvSpPr>
          <p:cNvPr id="62" name="Text 53"/>
          <p:cNvSpPr txBox="1"/>
          <p:nvPr/>
        </p:nvSpPr>
        <p:spPr>
          <a:xfrm>
            <a:off x="7196328" y="1901952"/>
            <a:ext cx="1325880" cy="182880"/>
          </a:xfrm>
          <a:prstGeom prst="rect">
            <a:avLst/>
          </a:prstGeom>
          <a:noFill/>
          <a:ln/>
        </p:spPr>
        <p:txBody>
          <a:bodyPr wrap="square" lIns="0" tIns="0" rIns="0" bIns="0" rtlCol="0" anchor="ctr"/>
          <a:lstStyle/>
          <a:p>
            <a:pPr marL="0" indent="0">
              <a:buNone/>
            </a:pPr>
            <a:r>
              <a:rPr lang="en-US" sz="750" dirty="0">
                <a:solidFill>
                  <a:schemeClr val="bg2"/>
                </a:solidFill>
              </a:rPr>
              <a:t>Only when the learner asks</a:t>
            </a:r>
            <a:endParaRPr lang="en-US" sz="750" dirty="0"/>
          </a:p>
        </p:txBody>
      </p:sp>
      <p:sp>
        <p:nvSpPr>
          <p:cNvPr id="63" name="Anthropic API"/>
          <p:cNvSpPr/>
          <p:nvPr/>
        </p:nvSpPr>
        <p:spPr>
          <a:xfrm>
            <a:off x="7086600" y="2331720"/>
            <a:ext cx="1508760" cy="1837944"/>
          </a:xfrm>
          <a:prstGeom prst="roundRect">
            <a:avLst>
              <a:gd name="adj" fmla="val 4242"/>
            </a:avLst>
          </a:prstGeom>
          <a:solidFill>
            <a:schemeClr val="accent1"/>
          </a:solidFill>
          <a:ln w="12700">
            <a:solidFill>
              <a:schemeClr val="accent1"/>
            </a:solidFill>
            <a:prstDash val="solid"/>
          </a:ln>
        </p:spPr>
      </p:sp>
      <p:sp>
        <p:nvSpPr>
          <p:cNvPr id="64" name="Anthropic API badge"/>
          <p:cNvSpPr/>
          <p:nvPr/>
        </p:nvSpPr>
        <p:spPr>
          <a:xfrm>
            <a:off x="7196328" y="2441448"/>
            <a:ext cx="292608" cy="292608"/>
          </a:xfrm>
          <a:prstGeom prst="ellipse">
            <a:avLst/>
          </a:prstGeom>
          <a:solidFill>
            <a:srgbClr val="0C0701"/>
          </a:solidFill>
          <a:ln/>
        </p:spPr>
      </p:sp>
      <p:pic>
        <p:nvPicPr>
          <p:cNvPr id="65" name="Image 7" descr="Anthropic API icon"/>
          <p:cNvPicPr>
            <a:picLocks noChangeAspect="1"/>
          </p:cNvPicPr>
          <p:nvPr/>
        </p:nvPicPr>
        <p:blipFill>
          <a:blip r:embed="rId10"/>
          <a:stretch>
            <a:fillRect/>
          </a:stretch>
        </p:blipFill>
        <p:spPr>
          <a:xfrm>
            <a:off x="7260336" y="2505456"/>
            <a:ext cx="164592" cy="164592"/>
          </a:xfrm>
          <a:prstGeom prst="rect">
            <a:avLst/>
          </a:prstGeom>
        </p:spPr>
      </p:pic>
      <p:sp>
        <p:nvSpPr>
          <p:cNvPr id="66" name="Text 56"/>
          <p:cNvSpPr txBox="1"/>
          <p:nvPr/>
        </p:nvSpPr>
        <p:spPr>
          <a:xfrm>
            <a:off x="7196328" y="2834640"/>
            <a:ext cx="1325880" cy="219456"/>
          </a:xfrm>
          <a:prstGeom prst="rect">
            <a:avLst/>
          </a:prstGeom>
          <a:noFill/>
          <a:ln/>
        </p:spPr>
        <p:txBody>
          <a:bodyPr wrap="square" lIns="0" tIns="0" rIns="0" bIns="0" rtlCol="0" anchor="ctr"/>
          <a:lstStyle/>
          <a:p>
            <a:pPr marL="0" indent="0">
              <a:buNone/>
            </a:pPr>
            <a:r>
              <a:rPr lang="en-US" sz="1050" b="1" dirty="0">
                <a:solidFill>
                  <a:schemeClr val="tx1"/>
                </a:solidFill>
              </a:rPr>
              <a:t>Anthropic API</a:t>
            </a:r>
            <a:endParaRPr lang="en-US" sz="1050" dirty="0"/>
          </a:p>
        </p:txBody>
      </p:sp>
      <p:sp>
        <p:nvSpPr>
          <p:cNvPr id="67" name="Text 57"/>
          <p:cNvSpPr txBox="1"/>
          <p:nvPr/>
        </p:nvSpPr>
        <p:spPr>
          <a:xfrm>
            <a:off x="7196328" y="3081528"/>
            <a:ext cx="1307592" cy="457200"/>
          </a:xfrm>
          <a:prstGeom prst="rect">
            <a:avLst/>
          </a:prstGeom>
          <a:noFill/>
          <a:ln/>
        </p:spPr>
        <p:txBody>
          <a:bodyPr wrap="square" lIns="0" tIns="0" rIns="0" bIns="0" rtlCol="0" anchor="t"/>
          <a:lstStyle/>
          <a:p>
            <a:pPr marL="0" indent="0">
              <a:buNone/>
            </a:pPr>
            <a:r>
              <a:rPr lang="en-US" sz="800" dirty="0">
                <a:solidFill>
                  <a:schemeClr val="tx1"/>
                </a:solidFill>
              </a:rPr>
              <a:t>Claude, through the learner's own Claude login</a:t>
            </a:r>
            <a:endParaRPr lang="en-US" sz="800" dirty="0"/>
          </a:p>
        </p:txBody>
      </p:sp>
      <p:sp>
        <p:nvSpPr>
          <p:cNvPr id="68" name="Shape 58"/>
          <p:cNvSpPr/>
          <p:nvPr/>
        </p:nvSpPr>
        <p:spPr>
          <a:xfrm>
            <a:off x="2103120" y="2240280"/>
            <a:ext cx="365760" cy="0"/>
          </a:xfrm>
          <a:prstGeom prst="line">
            <a:avLst/>
          </a:prstGeom>
          <a:noFill/>
          <a:ln w="12700">
            <a:solidFill>
              <a:schemeClr val="bg2"/>
            </a:solidFill>
            <a:prstDash val="solid"/>
            <a:headEnd type="triangle"/>
            <a:tailEnd type="triangle"/>
          </a:ln>
        </p:spPr>
      </p:sp>
      <p:sp>
        <p:nvSpPr>
          <p:cNvPr id="69" name="Text 59"/>
          <p:cNvSpPr txBox="1"/>
          <p:nvPr/>
        </p:nvSpPr>
        <p:spPr>
          <a:xfrm>
            <a:off x="2103120" y="2048256"/>
            <a:ext cx="365760" cy="164592"/>
          </a:xfrm>
          <a:prstGeom prst="rect">
            <a:avLst/>
          </a:prstGeom>
          <a:noFill/>
          <a:ln/>
        </p:spPr>
        <p:txBody>
          <a:bodyPr wrap="square" lIns="0" tIns="0" rIns="0" bIns="0" rtlCol="0" anchor="b"/>
          <a:lstStyle/>
          <a:p>
            <a:pPr marL="0" indent="0" algn="ctr">
              <a:buNone/>
            </a:pPr>
            <a:r>
              <a:rPr lang="en-US" sz="700" dirty="0">
                <a:solidFill>
                  <a:schemeClr val="bg2"/>
                </a:solidFill>
              </a:rPr>
              <a:t>HTTP</a:t>
            </a:r>
            <a:endParaRPr lang="en-US" sz="700" dirty="0"/>
          </a:p>
        </p:txBody>
      </p:sp>
      <p:sp>
        <p:nvSpPr>
          <p:cNvPr id="70" name="Text 60"/>
          <p:cNvSpPr txBox="1"/>
          <p:nvPr/>
        </p:nvSpPr>
        <p:spPr>
          <a:xfrm>
            <a:off x="2103120" y="2276856"/>
            <a:ext cx="365760" cy="164592"/>
          </a:xfrm>
          <a:prstGeom prst="rect">
            <a:avLst/>
          </a:prstGeom>
          <a:noFill/>
          <a:ln/>
        </p:spPr>
        <p:txBody>
          <a:bodyPr wrap="square" lIns="0" tIns="0" rIns="0" bIns="0" rtlCol="0" anchor="t"/>
          <a:lstStyle/>
          <a:p>
            <a:pPr marL="0" indent="0" algn="ctr">
              <a:buNone/>
            </a:pPr>
            <a:r>
              <a:rPr lang="en-US" sz="700" dirty="0">
                <a:solidFill>
                  <a:schemeClr val="bg2"/>
                </a:solidFill>
              </a:rPr>
              <a:t>SSE</a:t>
            </a:r>
            <a:endParaRPr lang="en-US" sz="700" dirty="0"/>
          </a:p>
        </p:txBody>
      </p:sp>
      <p:sp>
        <p:nvSpPr>
          <p:cNvPr id="71" name="Shape 61"/>
          <p:cNvSpPr/>
          <p:nvPr/>
        </p:nvSpPr>
        <p:spPr>
          <a:xfrm>
            <a:off x="3931920" y="1828800"/>
            <a:ext cx="365760" cy="0"/>
          </a:xfrm>
          <a:prstGeom prst="line">
            <a:avLst/>
          </a:prstGeom>
          <a:noFill/>
          <a:ln w="12700">
            <a:solidFill>
              <a:schemeClr val="bg2"/>
            </a:solidFill>
            <a:prstDash val="solid"/>
            <a:tailEnd type="triangle"/>
          </a:ln>
        </p:spPr>
      </p:sp>
      <p:sp>
        <p:nvSpPr>
          <p:cNvPr id="72" name="Shape 62"/>
          <p:cNvSpPr/>
          <p:nvPr/>
        </p:nvSpPr>
        <p:spPr>
          <a:xfrm flipH="1">
            <a:off x="3931920" y="2194560"/>
            <a:ext cx="365760" cy="0"/>
          </a:xfrm>
          <a:prstGeom prst="line">
            <a:avLst/>
          </a:prstGeom>
          <a:noFill/>
          <a:ln w="12700">
            <a:solidFill>
              <a:schemeClr val="bg2"/>
            </a:solidFill>
            <a:prstDash val="dash"/>
            <a:tailEnd type="triangle"/>
          </a:ln>
        </p:spPr>
      </p:sp>
      <p:sp>
        <p:nvSpPr>
          <p:cNvPr id="73" name="Shape 63"/>
          <p:cNvSpPr/>
          <p:nvPr/>
        </p:nvSpPr>
        <p:spPr>
          <a:xfrm>
            <a:off x="3931920" y="3099816"/>
            <a:ext cx="365760" cy="0"/>
          </a:xfrm>
          <a:prstGeom prst="line">
            <a:avLst/>
          </a:prstGeom>
          <a:noFill/>
          <a:ln w="12700">
            <a:solidFill>
              <a:schemeClr val="bg2"/>
            </a:solidFill>
            <a:prstDash val="solid"/>
            <a:tailEnd type="triangle"/>
          </a:ln>
        </p:spPr>
      </p:sp>
      <p:sp>
        <p:nvSpPr>
          <p:cNvPr id="74" name="Shape 64"/>
          <p:cNvSpPr/>
          <p:nvPr/>
        </p:nvSpPr>
        <p:spPr>
          <a:xfrm>
            <a:off x="3931920" y="3858768"/>
            <a:ext cx="365760" cy="0"/>
          </a:xfrm>
          <a:prstGeom prst="line">
            <a:avLst/>
          </a:prstGeom>
          <a:noFill/>
          <a:ln w="12700">
            <a:solidFill>
              <a:schemeClr val="bg2"/>
            </a:solidFill>
            <a:prstDash val="solid"/>
            <a:tailEnd type="triangle"/>
          </a:ln>
        </p:spPr>
      </p:sp>
      <p:sp>
        <p:nvSpPr>
          <p:cNvPr id="75" name="Shape 65"/>
          <p:cNvSpPr/>
          <p:nvPr/>
        </p:nvSpPr>
        <p:spPr>
          <a:xfrm>
            <a:off x="3200400" y="4169664"/>
            <a:ext cx="0" cy="201168"/>
          </a:xfrm>
          <a:prstGeom prst="line">
            <a:avLst/>
          </a:prstGeom>
          <a:noFill/>
          <a:ln w="12700">
            <a:solidFill>
              <a:schemeClr val="bg2"/>
            </a:solidFill>
            <a:prstDash val="solid"/>
            <a:tailEnd type="triangle"/>
          </a:ln>
        </p:spPr>
      </p:sp>
      <p:sp>
        <p:nvSpPr>
          <p:cNvPr id="76" name="Shape 66"/>
          <p:cNvSpPr/>
          <p:nvPr/>
        </p:nvSpPr>
        <p:spPr>
          <a:xfrm>
            <a:off x="5532120" y="4169664"/>
            <a:ext cx="0" cy="201168"/>
          </a:xfrm>
          <a:prstGeom prst="line">
            <a:avLst/>
          </a:prstGeom>
          <a:noFill/>
          <a:ln w="12700">
            <a:solidFill>
              <a:schemeClr val="bg2"/>
            </a:solidFill>
            <a:prstDash val="solid"/>
            <a:tailEnd type="triangle"/>
          </a:ln>
        </p:spPr>
      </p:sp>
      <p:sp>
        <p:nvSpPr>
          <p:cNvPr id="77" name="Shape 67"/>
          <p:cNvSpPr/>
          <p:nvPr/>
        </p:nvSpPr>
        <p:spPr>
          <a:xfrm>
            <a:off x="6766560" y="1783080"/>
            <a:ext cx="320040" cy="0"/>
          </a:xfrm>
          <a:prstGeom prst="line">
            <a:avLst/>
          </a:prstGeom>
          <a:noFill/>
          <a:ln w="12700">
            <a:solidFill>
              <a:schemeClr val="bg2"/>
            </a:solidFill>
            <a:prstDash val="dash"/>
            <a:tailEnd type="triangle"/>
          </a:ln>
        </p:spPr>
      </p:sp>
      <p:sp>
        <p:nvSpPr>
          <p:cNvPr id="78" name="Shape 68"/>
          <p:cNvSpPr/>
          <p:nvPr/>
        </p:nvSpPr>
        <p:spPr>
          <a:xfrm>
            <a:off x="6766560" y="2514600"/>
            <a:ext cx="320040" cy="0"/>
          </a:xfrm>
          <a:prstGeom prst="line">
            <a:avLst/>
          </a:prstGeom>
          <a:noFill/>
          <a:ln w="12700">
            <a:solidFill>
              <a:schemeClr val="accent1"/>
            </a:solidFill>
            <a:prstDash val="solid"/>
            <a:tailEnd type="triangle"/>
          </a:ln>
        </p:spPr>
      </p:sp>
      <p:sp>
        <p:nvSpPr>
          <p:cNvPr id="79" name="Shape 69"/>
          <p:cNvSpPr/>
          <p:nvPr/>
        </p:nvSpPr>
        <p:spPr>
          <a:xfrm>
            <a:off x="6766560" y="3099816"/>
            <a:ext cx="320040" cy="0"/>
          </a:xfrm>
          <a:prstGeom prst="line">
            <a:avLst/>
          </a:prstGeom>
          <a:noFill/>
          <a:ln w="12700">
            <a:solidFill>
              <a:schemeClr val="accent1"/>
            </a:solidFill>
            <a:prstDash val="solid"/>
            <a:tailEnd type="triangle"/>
          </a:ln>
        </p:spPr>
      </p:sp>
      <p:sp>
        <p:nvSpPr>
          <p:cNvPr id="80" name="Shape 70"/>
          <p:cNvSpPr/>
          <p:nvPr/>
        </p:nvSpPr>
        <p:spPr>
          <a:xfrm>
            <a:off x="6766560" y="3858768"/>
            <a:ext cx="320040" cy="0"/>
          </a:xfrm>
          <a:prstGeom prst="line">
            <a:avLst/>
          </a:prstGeom>
          <a:noFill/>
          <a:ln w="12700">
            <a:solidFill>
              <a:schemeClr val="accent1"/>
            </a:solidFill>
            <a:prstDash val="solid"/>
            <a:tailEnd type="triangle"/>
          </a:ln>
        </p:spPr>
      </p:sp>
    </p:spTree>
    <p:extLst>
      <p:ext uri="{BB962C8B-B14F-4D97-AF65-F5344CB8AC3E}">
        <p14:creationId xmlns:p14="http://schemas.microsoft.com/office/powerpoint/2010/main" val="88177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8046720" cy="1097280"/>
          </a:xfrm>
          <a:prstGeom prst="rect">
            <a:avLst/>
          </a:prstGeom>
          <a:noFill/>
          <a:ln/>
        </p:spPr>
        <p:txBody>
          <a:bodyPr wrap="square" lIns="0" tIns="0" rIns="0" bIns="0" rtlCol="0" anchor="t"/>
          <a:lstStyle/>
          <a:p>
            <a:pPr marL="0" indent="0" algn="l">
              <a:buNone/>
            </a:pPr>
            <a:r>
              <a:rPr lang="en-US" sz="3600" b="1" dirty="0">
                <a:solidFill>
                  <a:schemeClr val="bg1"/>
                </a:solidFill>
              </a:rPr>
              <a:t>Security</a:t>
            </a:r>
            <a:endParaRPr lang="en-US" sz="3600" dirty="0"/>
          </a:p>
        </p:txBody>
      </p:sp>
      <p:sp>
        <p:nvSpPr>
          <p:cNvPr id="3" name="OWASP LLM Top 10 card"/>
          <p:cNvSpPr/>
          <p:nvPr/>
        </p:nvSpPr>
        <p:spPr>
          <a:xfrm>
            <a:off x="548640" y="1234440"/>
            <a:ext cx="3931920" cy="548640"/>
          </a:xfrm>
          <a:prstGeom prst="roundRect">
            <a:avLst>
              <a:gd name="adj" fmla="val 20000"/>
            </a:avLst>
          </a:prstGeom>
          <a:solidFill>
            <a:schemeClr val="tx2"/>
          </a:solidFill>
          <a:ln w="12700">
            <a:solidFill>
              <a:srgbClr val="3A3026"/>
            </a:solidFill>
            <a:prstDash val="solid"/>
          </a:ln>
        </p:spPr>
      </p:sp>
      <p:sp>
        <p:nvSpPr>
          <p:cNvPr id="4" name="OWASP LLM Top 10 icon circle"/>
          <p:cNvSpPr/>
          <p:nvPr/>
        </p:nvSpPr>
        <p:spPr>
          <a:xfrm>
            <a:off x="731520" y="1325880"/>
            <a:ext cx="365760" cy="365760"/>
          </a:xfrm>
          <a:prstGeom prst="ellipse">
            <a:avLst/>
          </a:prstGeom>
          <a:solidFill>
            <a:schemeClr val="accent1"/>
          </a:solidFill>
          <a:ln/>
        </p:spPr>
      </p:sp>
      <p:pic>
        <p:nvPicPr>
          <p:cNvPr id="5" name="OWASP LLM Top 10 icon" descr="preencoded.png"/>
          <p:cNvPicPr>
            <a:picLocks noChangeAspect="1"/>
          </p:cNvPicPr>
          <p:nvPr/>
        </p:nvPicPr>
        <p:blipFill>
          <a:blip r:embed="rId3"/>
          <a:stretch>
            <a:fillRect/>
          </a:stretch>
        </p:blipFill>
        <p:spPr>
          <a:xfrm>
            <a:off x="813816" y="1408176"/>
            <a:ext cx="201168" cy="201168"/>
          </a:xfrm>
          <a:prstGeom prst="rect">
            <a:avLst/>
          </a:prstGeom>
        </p:spPr>
      </p:pic>
      <p:sp>
        <p:nvSpPr>
          <p:cNvPr id="6" name="OWASP LLM Top 10 text"/>
          <p:cNvSpPr txBox="1"/>
          <p:nvPr/>
        </p:nvSpPr>
        <p:spPr>
          <a:xfrm>
            <a:off x="1325880" y="1234440"/>
            <a:ext cx="2185416" cy="548640"/>
          </a:xfrm>
          <a:prstGeom prst="rect">
            <a:avLst/>
          </a:prstGeom>
          <a:noFill/>
          <a:ln/>
        </p:spPr>
        <p:txBody>
          <a:bodyPr wrap="square" lIns="0" tIns="0" rIns="0" bIns="0" rtlCol="0" anchor="ctr"/>
          <a:lstStyle/>
          <a:p>
            <a:pPr marL="0" indent="0">
              <a:buNone/>
            </a:pPr>
            <a:r>
              <a:rPr lang="en-US" sz="1400" b="1" dirty="0">
                <a:solidFill>
                  <a:schemeClr val="bg1"/>
                </a:solidFill>
              </a:rPr>
              <a:t>OWASP LLM Top 10</a:t>
            </a:r>
            <a:endParaRPr lang="en-US" sz="1400" dirty="0"/>
          </a:p>
        </p:txBody>
      </p:sp>
      <p:sp>
        <p:nvSpPr>
          <p:cNvPr id="7" name="OWASP LLM Top 10 badge"/>
          <p:cNvSpPr txBox="1"/>
          <p:nvPr/>
        </p:nvSpPr>
        <p:spPr>
          <a:xfrm>
            <a:off x="3602736" y="1399032"/>
            <a:ext cx="694944" cy="219456"/>
          </a:xfrm>
          <a:prstGeom prst="roundRect">
            <a:avLst>
              <a:gd name="adj" fmla="val 50000"/>
            </a:avLst>
          </a:prstGeom>
          <a:solidFill>
            <a:srgbClr val="2A1F0A"/>
          </a:solidFill>
          <a:ln/>
        </p:spPr>
        <p:txBody>
          <a:bodyPr wrap="square" lIns="0" tIns="0" rIns="0" bIns="0" rtlCol="0" anchor="ctr"/>
          <a:lstStyle/>
          <a:p>
            <a:pPr marL="0" indent="0" algn="ctr">
              <a:buNone/>
            </a:pPr>
            <a:r>
              <a:rPr lang="en-US" sz="1000" b="1" dirty="0">
                <a:solidFill>
                  <a:schemeClr val="accent5"/>
                </a:solidFill>
              </a:rPr>
              <a:t>Partly</a:t>
            </a:r>
            <a:endParaRPr lang="en-US" sz="1000" dirty="0"/>
          </a:p>
        </p:txBody>
      </p:sp>
      <p:sp>
        <p:nvSpPr>
          <p:cNvPr id="8" name="Guardrails card"/>
          <p:cNvSpPr/>
          <p:nvPr/>
        </p:nvSpPr>
        <p:spPr>
          <a:xfrm>
            <a:off x="548640" y="1874520"/>
            <a:ext cx="3931920" cy="548640"/>
          </a:xfrm>
          <a:prstGeom prst="roundRect">
            <a:avLst>
              <a:gd name="adj" fmla="val 20000"/>
            </a:avLst>
          </a:prstGeom>
          <a:solidFill>
            <a:schemeClr val="tx2"/>
          </a:solidFill>
          <a:ln w="12700">
            <a:solidFill>
              <a:srgbClr val="3A3026"/>
            </a:solidFill>
            <a:prstDash val="solid"/>
          </a:ln>
        </p:spPr>
      </p:sp>
      <p:sp>
        <p:nvSpPr>
          <p:cNvPr id="9" name="Guardrails icon circle"/>
          <p:cNvSpPr/>
          <p:nvPr/>
        </p:nvSpPr>
        <p:spPr>
          <a:xfrm>
            <a:off x="731520" y="1965960"/>
            <a:ext cx="365760" cy="365760"/>
          </a:xfrm>
          <a:prstGeom prst="ellipse">
            <a:avLst/>
          </a:prstGeom>
          <a:solidFill>
            <a:schemeClr val="accent1"/>
          </a:solidFill>
          <a:ln/>
        </p:spPr>
      </p:sp>
      <p:pic>
        <p:nvPicPr>
          <p:cNvPr id="10" name="Guardrails icon" descr="preencoded.png"/>
          <p:cNvPicPr>
            <a:picLocks noChangeAspect="1"/>
          </p:cNvPicPr>
          <p:nvPr/>
        </p:nvPicPr>
        <p:blipFill>
          <a:blip r:embed="rId4"/>
          <a:stretch>
            <a:fillRect/>
          </a:stretch>
        </p:blipFill>
        <p:spPr>
          <a:xfrm>
            <a:off x="813816" y="2048256"/>
            <a:ext cx="201168" cy="201168"/>
          </a:xfrm>
          <a:prstGeom prst="rect">
            <a:avLst/>
          </a:prstGeom>
        </p:spPr>
      </p:pic>
      <p:sp>
        <p:nvSpPr>
          <p:cNvPr id="11" name="Guardrails text"/>
          <p:cNvSpPr txBox="1"/>
          <p:nvPr/>
        </p:nvSpPr>
        <p:spPr>
          <a:xfrm>
            <a:off x="1325880" y="1874520"/>
            <a:ext cx="2331720" cy="548640"/>
          </a:xfrm>
          <a:prstGeom prst="rect">
            <a:avLst/>
          </a:prstGeom>
          <a:noFill/>
          <a:ln/>
        </p:spPr>
        <p:txBody>
          <a:bodyPr wrap="square" lIns="0" tIns="0" rIns="0" bIns="0" rtlCol="0" anchor="ctr"/>
          <a:lstStyle/>
          <a:p>
            <a:pPr marL="0" indent="0">
              <a:buNone/>
            </a:pPr>
            <a:r>
              <a:rPr lang="en-US" sz="1400" b="1" dirty="0">
                <a:solidFill>
                  <a:schemeClr val="bg1"/>
                </a:solidFill>
              </a:rPr>
              <a:t>Guardrails</a:t>
            </a:r>
            <a:endParaRPr lang="en-US" sz="1400" dirty="0"/>
          </a:p>
        </p:txBody>
      </p:sp>
      <p:sp>
        <p:nvSpPr>
          <p:cNvPr id="12" name="Guardrails badge"/>
          <p:cNvSpPr txBox="1"/>
          <p:nvPr/>
        </p:nvSpPr>
        <p:spPr>
          <a:xfrm>
            <a:off x="3749040" y="2039112"/>
            <a:ext cx="548640" cy="219456"/>
          </a:xfrm>
          <a:prstGeom prst="roundRect">
            <a:avLst>
              <a:gd name="adj" fmla="val 50000"/>
            </a:avLst>
          </a:prstGeom>
          <a:solidFill>
            <a:srgbClr val="2C241A"/>
          </a:solidFill>
          <a:ln/>
        </p:spPr>
        <p:txBody>
          <a:bodyPr wrap="square" lIns="0" tIns="0" rIns="0" bIns="0" rtlCol="0" anchor="ctr"/>
          <a:lstStyle/>
          <a:p>
            <a:pPr marL="0" indent="0" algn="ctr">
              <a:buNone/>
            </a:pPr>
            <a:r>
              <a:rPr lang="en-US" sz="1000" b="1" dirty="0">
                <a:solidFill>
                  <a:schemeClr val="bg2"/>
                </a:solidFill>
              </a:rPr>
              <a:t>TBD</a:t>
            </a:r>
            <a:endParaRPr lang="en-US" sz="1000" dirty="0"/>
          </a:p>
        </p:txBody>
      </p:sp>
      <p:sp>
        <p:nvSpPr>
          <p:cNvPr id="13" name="Authorization card"/>
          <p:cNvSpPr/>
          <p:nvPr/>
        </p:nvSpPr>
        <p:spPr>
          <a:xfrm>
            <a:off x="548640" y="2514600"/>
            <a:ext cx="3931920" cy="548640"/>
          </a:xfrm>
          <a:prstGeom prst="roundRect">
            <a:avLst>
              <a:gd name="adj" fmla="val 20000"/>
            </a:avLst>
          </a:prstGeom>
          <a:solidFill>
            <a:schemeClr val="tx2"/>
          </a:solidFill>
          <a:ln w="12700">
            <a:solidFill>
              <a:srgbClr val="3A3026"/>
            </a:solidFill>
            <a:prstDash val="solid"/>
          </a:ln>
        </p:spPr>
      </p:sp>
      <p:sp>
        <p:nvSpPr>
          <p:cNvPr id="14" name="Authorization icon circle"/>
          <p:cNvSpPr/>
          <p:nvPr/>
        </p:nvSpPr>
        <p:spPr>
          <a:xfrm>
            <a:off x="731520" y="2606040"/>
            <a:ext cx="365760" cy="365760"/>
          </a:xfrm>
          <a:prstGeom prst="ellipse">
            <a:avLst/>
          </a:prstGeom>
          <a:solidFill>
            <a:schemeClr val="accent1"/>
          </a:solidFill>
          <a:ln/>
        </p:spPr>
      </p:sp>
      <p:pic>
        <p:nvPicPr>
          <p:cNvPr id="15" name="Authorization icon" descr="preencoded.png"/>
          <p:cNvPicPr>
            <a:picLocks noChangeAspect="1"/>
          </p:cNvPicPr>
          <p:nvPr/>
        </p:nvPicPr>
        <p:blipFill>
          <a:blip r:embed="rId5"/>
          <a:stretch>
            <a:fillRect/>
          </a:stretch>
        </p:blipFill>
        <p:spPr>
          <a:xfrm>
            <a:off x="813816" y="2688336"/>
            <a:ext cx="201168" cy="201168"/>
          </a:xfrm>
          <a:prstGeom prst="rect">
            <a:avLst/>
          </a:prstGeom>
        </p:spPr>
      </p:pic>
      <p:sp>
        <p:nvSpPr>
          <p:cNvPr id="16" name="Authorization text"/>
          <p:cNvSpPr txBox="1"/>
          <p:nvPr/>
        </p:nvSpPr>
        <p:spPr>
          <a:xfrm>
            <a:off x="1325880" y="2514600"/>
            <a:ext cx="2971800" cy="548640"/>
          </a:xfrm>
          <a:prstGeom prst="rect">
            <a:avLst/>
          </a:prstGeom>
          <a:noFill/>
          <a:ln/>
        </p:spPr>
        <p:txBody>
          <a:bodyPr wrap="square" lIns="0" tIns="0" rIns="0" bIns="0" rtlCol="0" anchor="ctr"/>
          <a:lstStyle/>
          <a:p>
            <a:pPr marL="0" indent="0">
              <a:buNone/>
            </a:pPr>
            <a:r>
              <a:rPr lang="en-US" sz="1400" b="1" dirty="0">
                <a:solidFill>
                  <a:schemeClr val="bg1"/>
                </a:solidFill>
              </a:rPr>
              <a:t>Authorization</a:t>
            </a:r>
            <a:endParaRPr lang="en-US" sz="1400" dirty="0"/>
          </a:p>
        </p:txBody>
      </p:sp>
      <p:sp>
        <p:nvSpPr>
          <p:cNvPr id="17" name="Rate limiting card"/>
          <p:cNvSpPr/>
          <p:nvPr/>
        </p:nvSpPr>
        <p:spPr>
          <a:xfrm>
            <a:off x="548640" y="3154680"/>
            <a:ext cx="3931920" cy="548640"/>
          </a:xfrm>
          <a:prstGeom prst="roundRect">
            <a:avLst>
              <a:gd name="adj" fmla="val 20000"/>
            </a:avLst>
          </a:prstGeom>
          <a:solidFill>
            <a:schemeClr val="tx2"/>
          </a:solidFill>
          <a:ln w="12700">
            <a:solidFill>
              <a:srgbClr val="3A3026"/>
            </a:solidFill>
            <a:prstDash val="solid"/>
          </a:ln>
        </p:spPr>
      </p:sp>
      <p:sp>
        <p:nvSpPr>
          <p:cNvPr id="18" name="Rate limiting icon circle"/>
          <p:cNvSpPr/>
          <p:nvPr/>
        </p:nvSpPr>
        <p:spPr>
          <a:xfrm>
            <a:off x="731520" y="3246120"/>
            <a:ext cx="365760" cy="365760"/>
          </a:xfrm>
          <a:prstGeom prst="ellipse">
            <a:avLst/>
          </a:prstGeom>
          <a:solidFill>
            <a:schemeClr val="accent1"/>
          </a:solidFill>
          <a:ln/>
        </p:spPr>
      </p:sp>
      <p:pic>
        <p:nvPicPr>
          <p:cNvPr id="19" name="Rate limiting icon" descr="preencoded.png"/>
          <p:cNvPicPr>
            <a:picLocks noChangeAspect="1"/>
          </p:cNvPicPr>
          <p:nvPr/>
        </p:nvPicPr>
        <p:blipFill>
          <a:blip r:embed="rId6"/>
          <a:stretch>
            <a:fillRect/>
          </a:stretch>
        </p:blipFill>
        <p:spPr>
          <a:xfrm>
            <a:off x="813816" y="3328416"/>
            <a:ext cx="201168" cy="201168"/>
          </a:xfrm>
          <a:prstGeom prst="rect">
            <a:avLst/>
          </a:prstGeom>
        </p:spPr>
      </p:pic>
      <p:sp>
        <p:nvSpPr>
          <p:cNvPr id="20" name="Rate limiting text"/>
          <p:cNvSpPr txBox="1"/>
          <p:nvPr/>
        </p:nvSpPr>
        <p:spPr>
          <a:xfrm>
            <a:off x="1325880" y="3154680"/>
            <a:ext cx="1563624" cy="548640"/>
          </a:xfrm>
          <a:prstGeom prst="rect">
            <a:avLst/>
          </a:prstGeom>
          <a:noFill/>
          <a:ln/>
        </p:spPr>
        <p:txBody>
          <a:bodyPr wrap="square" lIns="0" tIns="0" rIns="0" bIns="0" rtlCol="0" anchor="ctr"/>
          <a:lstStyle/>
          <a:p>
            <a:pPr marL="0" indent="0">
              <a:buNone/>
            </a:pPr>
            <a:r>
              <a:rPr lang="en-US" sz="1400" b="1" dirty="0">
                <a:solidFill>
                  <a:schemeClr val="bg1"/>
                </a:solidFill>
              </a:rPr>
              <a:t>Rate limiting</a:t>
            </a:r>
            <a:endParaRPr lang="en-US" sz="1400" dirty="0"/>
          </a:p>
        </p:txBody>
      </p:sp>
      <p:sp>
        <p:nvSpPr>
          <p:cNvPr id="21" name="Rate limiting badge"/>
          <p:cNvSpPr txBox="1"/>
          <p:nvPr/>
        </p:nvSpPr>
        <p:spPr>
          <a:xfrm>
            <a:off x="2980944" y="3319272"/>
            <a:ext cx="1316736" cy="219456"/>
          </a:xfrm>
          <a:prstGeom prst="roundRect">
            <a:avLst>
              <a:gd name="adj" fmla="val 50000"/>
            </a:avLst>
          </a:prstGeom>
          <a:solidFill>
            <a:srgbClr val="2A1F0A"/>
          </a:solidFill>
          <a:ln/>
        </p:spPr>
        <p:txBody>
          <a:bodyPr wrap="square" lIns="0" tIns="0" rIns="0" bIns="0" rtlCol="0" anchor="ctr"/>
          <a:lstStyle/>
          <a:p>
            <a:pPr marL="0" indent="0" algn="ctr">
              <a:buNone/>
            </a:pPr>
            <a:r>
              <a:rPr lang="en-US" sz="1000" b="1" dirty="0">
                <a:solidFill>
                  <a:schemeClr val="accent5"/>
                </a:solidFill>
              </a:rPr>
              <a:t>Passwords only</a:t>
            </a:r>
            <a:endParaRPr lang="en-US" sz="1000" dirty="0"/>
          </a:p>
        </p:txBody>
      </p:sp>
      <p:sp>
        <p:nvSpPr>
          <p:cNvPr id="22" name="XSS protection card"/>
          <p:cNvSpPr/>
          <p:nvPr/>
        </p:nvSpPr>
        <p:spPr>
          <a:xfrm>
            <a:off x="548640" y="3794760"/>
            <a:ext cx="3931920" cy="548640"/>
          </a:xfrm>
          <a:prstGeom prst="roundRect">
            <a:avLst>
              <a:gd name="adj" fmla="val 20000"/>
            </a:avLst>
          </a:prstGeom>
          <a:solidFill>
            <a:schemeClr val="tx2"/>
          </a:solidFill>
          <a:ln w="12700">
            <a:solidFill>
              <a:srgbClr val="3A3026"/>
            </a:solidFill>
            <a:prstDash val="solid"/>
          </a:ln>
        </p:spPr>
      </p:sp>
      <p:sp>
        <p:nvSpPr>
          <p:cNvPr id="23" name="XSS protection icon circle"/>
          <p:cNvSpPr/>
          <p:nvPr/>
        </p:nvSpPr>
        <p:spPr>
          <a:xfrm>
            <a:off x="731520" y="3886200"/>
            <a:ext cx="365760" cy="365760"/>
          </a:xfrm>
          <a:prstGeom prst="ellipse">
            <a:avLst/>
          </a:prstGeom>
          <a:solidFill>
            <a:schemeClr val="accent1"/>
          </a:solidFill>
          <a:ln/>
        </p:spPr>
      </p:sp>
      <p:pic>
        <p:nvPicPr>
          <p:cNvPr id="24" name="XSS protection icon" descr="preencoded.png"/>
          <p:cNvPicPr>
            <a:picLocks noChangeAspect="1"/>
          </p:cNvPicPr>
          <p:nvPr/>
        </p:nvPicPr>
        <p:blipFill>
          <a:blip r:embed="rId7"/>
          <a:stretch>
            <a:fillRect/>
          </a:stretch>
        </p:blipFill>
        <p:spPr>
          <a:xfrm>
            <a:off x="813816" y="3968496"/>
            <a:ext cx="201168" cy="201168"/>
          </a:xfrm>
          <a:prstGeom prst="rect">
            <a:avLst/>
          </a:prstGeom>
        </p:spPr>
      </p:pic>
      <p:sp>
        <p:nvSpPr>
          <p:cNvPr id="25" name="XSS protection text"/>
          <p:cNvSpPr txBox="1"/>
          <p:nvPr/>
        </p:nvSpPr>
        <p:spPr>
          <a:xfrm>
            <a:off x="1325880" y="3794760"/>
            <a:ext cx="2971800" cy="548640"/>
          </a:xfrm>
          <a:prstGeom prst="rect">
            <a:avLst/>
          </a:prstGeom>
          <a:noFill/>
          <a:ln/>
        </p:spPr>
        <p:txBody>
          <a:bodyPr wrap="square" lIns="0" tIns="0" rIns="0" bIns="0" rtlCol="0" anchor="ctr"/>
          <a:lstStyle/>
          <a:p>
            <a:pPr marL="0" indent="0">
              <a:buNone/>
            </a:pPr>
            <a:r>
              <a:rPr lang="en-US" sz="1400" b="1" dirty="0">
                <a:solidFill>
                  <a:schemeClr val="bg1"/>
                </a:solidFill>
              </a:rPr>
              <a:t>XSS protection</a:t>
            </a:r>
            <a:endParaRPr lang="en-US" sz="1400" dirty="0"/>
          </a:p>
        </p:txBody>
      </p:sp>
      <p:sp>
        <p:nvSpPr>
          <p:cNvPr id="26" name="OWASP coverage card"/>
          <p:cNvSpPr/>
          <p:nvPr/>
        </p:nvSpPr>
        <p:spPr>
          <a:xfrm>
            <a:off x="4754880" y="1234440"/>
            <a:ext cx="3840480" cy="3108960"/>
          </a:xfrm>
          <a:prstGeom prst="roundRect">
            <a:avLst>
              <a:gd name="adj" fmla="val 3529"/>
            </a:avLst>
          </a:prstGeom>
          <a:solidFill>
            <a:schemeClr val="tx2"/>
          </a:solidFill>
          <a:ln w="12700">
            <a:solidFill>
              <a:srgbClr val="3A3026"/>
            </a:solidFill>
            <a:prstDash val="solid"/>
          </a:ln>
        </p:spPr>
      </p:sp>
      <p:sp>
        <p:nvSpPr>
          <p:cNvPr id="27" name="OWASP coverage heading"/>
          <p:cNvSpPr txBox="1"/>
          <p:nvPr/>
        </p:nvSpPr>
        <p:spPr>
          <a:xfrm>
            <a:off x="4937760" y="1344168"/>
            <a:ext cx="3474720" cy="292608"/>
          </a:xfrm>
          <a:prstGeom prst="rect">
            <a:avLst/>
          </a:prstGeom>
          <a:noFill/>
          <a:ln/>
        </p:spPr>
        <p:txBody>
          <a:bodyPr wrap="square" lIns="0" tIns="0" rIns="0" bIns="0" rtlCol="0" anchor="ctr"/>
          <a:lstStyle/>
          <a:p>
            <a:pPr marL="0" indent="0">
              <a:buNone/>
            </a:pPr>
            <a:r>
              <a:rPr lang="en-US" sz="1300" b="1" dirty="0">
                <a:solidFill>
                  <a:schemeClr val="bg1"/>
                </a:solidFill>
              </a:rPr>
              <a:t>OWASP Top 10 for LLMs: coverage</a:t>
            </a:r>
            <a:endParaRPr lang="en-US" sz="1300" dirty="0"/>
          </a:p>
        </p:txBody>
      </p:sp>
      <p:sp>
        <p:nvSpPr>
          <p:cNvPr id="28" name="LLM1 Prompt injection"/>
          <p:cNvSpPr txBox="1"/>
          <p:nvPr/>
        </p:nvSpPr>
        <p:spPr>
          <a:xfrm>
            <a:off x="4937760" y="170992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LLM01  </a:t>
            </a:r>
            <a:r>
              <a:rPr lang="en-US" sz="1000" dirty="0">
                <a:solidFill>
                  <a:schemeClr val="bg1"/>
                </a:solidFill>
              </a:rPr>
              <a:t>Prompt injection</a:t>
            </a:r>
            <a:endParaRPr lang="en-US" sz="1000" dirty="0"/>
          </a:p>
        </p:txBody>
      </p:sp>
      <p:sp>
        <p:nvSpPr>
          <p:cNvPr id="29" name="LLM1 status"/>
          <p:cNvSpPr txBox="1"/>
          <p:nvPr/>
        </p:nvSpPr>
        <p:spPr>
          <a:xfrm>
            <a:off x="7726680" y="1739646"/>
            <a:ext cx="685800" cy="192024"/>
          </a:xfrm>
          <a:prstGeom prst="roundRect">
            <a:avLst>
              <a:gd name="adj" fmla="val 50000"/>
            </a:avLst>
          </a:prstGeom>
          <a:solidFill>
            <a:srgbClr val="2A1F0A"/>
          </a:solidFill>
          <a:ln/>
        </p:spPr>
        <p:txBody>
          <a:bodyPr wrap="square" lIns="0" tIns="0" rIns="0" bIns="0" rtlCol="0" anchor="ctr"/>
          <a:lstStyle/>
          <a:p>
            <a:pPr marL="0" indent="0" algn="ctr">
              <a:buNone/>
            </a:pPr>
            <a:r>
              <a:rPr lang="en-US" sz="1000" b="1" dirty="0">
                <a:solidFill>
                  <a:schemeClr val="accent5"/>
                </a:solidFill>
              </a:rPr>
              <a:t>Partly</a:t>
            </a:r>
            <a:endParaRPr lang="en-US" sz="1000" dirty="0"/>
          </a:p>
        </p:txBody>
      </p:sp>
      <p:sp>
        <p:nvSpPr>
          <p:cNvPr id="30" name="LLM2 Sensitive information disclosure"/>
          <p:cNvSpPr txBox="1"/>
          <p:nvPr/>
        </p:nvSpPr>
        <p:spPr>
          <a:xfrm>
            <a:off x="4937760" y="196138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LLM02  </a:t>
            </a:r>
            <a:r>
              <a:rPr lang="en-US" sz="1000" dirty="0">
                <a:solidFill>
                  <a:schemeClr val="bg1"/>
                </a:solidFill>
              </a:rPr>
              <a:t>Sensitive information disclosure</a:t>
            </a:r>
            <a:endParaRPr lang="en-US" sz="1000" dirty="0"/>
          </a:p>
        </p:txBody>
      </p:sp>
      <p:sp>
        <p:nvSpPr>
          <p:cNvPr id="31" name="LLM2 status"/>
          <p:cNvSpPr txBox="1"/>
          <p:nvPr/>
        </p:nvSpPr>
        <p:spPr>
          <a:xfrm>
            <a:off x="7726680" y="1991106"/>
            <a:ext cx="685800" cy="192024"/>
          </a:xfrm>
          <a:prstGeom prst="roundRect">
            <a:avLst>
              <a:gd name="adj" fmla="val 50000"/>
            </a:avLst>
          </a:prstGeom>
          <a:solidFill>
            <a:srgbClr val="0F1C2E"/>
          </a:solidFill>
          <a:ln/>
        </p:spPr>
        <p:txBody>
          <a:bodyPr wrap="square" lIns="0" tIns="0" rIns="0" bIns="0" rtlCol="0" anchor="ctr"/>
          <a:lstStyle/>
          <a:p>
            <a:pPr marL="0" indent="0" algn="ctr">
              <a:buNone/>
            </a:pPr>
            <a:r>
              <a:rPr lang="en-US" sz="1000" b="1" dirty="0">
                <a:solidFill>
                  <a:schemeClr val="accent3"/>
                </a:solidFill>
              </a:rPr>
              <a:t>Mostly</a:t>
            </a:r>
            <a:endParaRPr lang="en-US" sz="1000" dirty="0"/>
          </a:p>
        </p:txBody>
      </p:sp>
      <p:sp>
        <p:nvSpPr>
          <p:cNvPr id="32" name="LLM3 Supply chain"/>
          <p:cNvSpPr txBox="1"/>
          <p:nvPr/>
        </p:nvSpPr>
        <p:spPr>
          <a:xfrm>
            <a:off x="4937760" y="221284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LLM03  </a:t>
            </a:r>
            <a:r>
              <a:rPr lang="en-US" sz="1000" dirty="0">
                <a:solidFill>
                  <a:schemeClr val="bg1"/>
                </a:solidFill>
              </a:rPr>
              <a:t>Supply chain</a:t>
            </a:r>
            <a:endParaRPr lang="en-US" sz="1000" dirty="0"/>
          </a:p>
        </p:txBody>
      </p:sp>
      <p:sp>
        <p:nvSpPr>
          <p:cNvPr id="33" name="LLM3 status"/>
          <p:cNvSpPr txBox="1"/>
          <p:nvPr/>
        </p:nvSpPr>
        <p:spPr>
          <a:xfrm>
            <a:off x="7726680" y="2242566"/>
            <a:ext cx="685800" cy="192024"/>
          </a:xfrm>
          <a:prstGeom prst="roundRect">
            <a:avLst>
              <a:gd name="adj" fmla="val 50000"/>
            </a:avLst>
          </a:prstGeom>
          <a:solidFill>
            <a:srgbClr val="2A1F0A"/>
          </a:solidFill>
          <a:ln/>
        </p:spPr>
        <p:txBody>
          <a:bodyPr wrap="square" lIns="0" tIns="0" rIns="0" bIns="0" rtlCol="0" anchor="ctr"/>
          <a:lstStyle/>
          <a:p>
            <a:pPr marL="0" indent="0" algn="ctr">
              <a:buNone/>
            </a:pPr>
            <a:r>
              <a:rPr lang="en-US" sz="1000" b="1" dirty="0">
                <a:solidFill>
                  <a:schemeClr val="accent5"/>
                </a:solidFill>
              </a:rPr>
              <a:t>Partly</a:t>
            </a:r>
            <a:endParaRPr lang="en-US" sz="1000" dirty="0"/>
          </a:p>
        </p:txBody>
      </p:sp>
      <p:sp>
        <p:nvSpPr>
          <p:cNvPr id="34" name="LLM4 Data and model poisoning"/>
          <p:cNvSpPr txBox="1"/>
          <p:nvPr/>
        </p:nvSpPr>
        <p:spPr>
          <a:xfrm>
            <a:off x="4937760" y="246430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LLM04  </a:t>
            </a:r>
            <a:r>
              <a:rPr lang="en-US" sz="1000" dirty="0">
                <a:solidFill>
                  <a:schemeClr val="bg1"/>
                </a:solidFill>
              </a:rPr>
              <a:t>Data and model poisoning</a:t>
            </a:r>
            <a:endParaRPr lang="en-US" sz="1000" dirty="0"/>
          </a:p>
        </p:txBody>
      </p:sp>
      <p:sp>
        <p:nvSpPr>
          <p:cNvPr id="35" name="LLM4 status"/>
          <p:cNvSpPr txBox="1"/>
          <p:nvPr/>
        </p:nvSpPr>
        <p:spPr>
          <a:xfrm>
            <a:off x="7726680" y="2494026"/>
            <a:ext cx="685800" cy="192024"/>
          </a:xfrm>
          <a:prstGeom prst="roundRect">
            <a:avLst>
              <a:gd name="adj" fmla="val 50000"/>
            </a:avLst>
          </a:prstGeom>
          <a:solidFill>
            <a:srgbClr val="11241A"/>
          </a:solidFill>
          <a:ln/>
        </p:spPr>
        <p:txBody>
          <a:bodyPr wrap="square" lIns="0" tIns="0" rIns="0" bIns="0" rtlCol="0" anchor="ctr"/>
          <a:lstStyle/>
          <a:p>
            <a:pPr marL="0" indent="0" algn="ctr">
              <a:buNone/>
            </a:pPr>
            <a:r>
              <a:rPr lang="en-US" sz="1000" b="1" dirty="0">
                <a:solidFill>
                  <a:schemeClr val="accent4"/>
                </a:solidFill>
              </a:rPr>
              <a:t>Covered</a:t>
            </a:r>
            <a:endParaRPr lang="en-US" sz="1000" dirty="0"/>
          </a:p>
        </p:txBody>
      </p:sp>
      <p:sp>
        <p:nvSpPr>
          <p:cNvPr id="36" name="LLM5 Improper output handling"/>
          <p:cNvSpPr txBox="1"/>
          <p:nvPr/>
        </p:nvSpPr>
        <p:spPr>
          <a:xfrm>
            <a:off x="4937760" y="271576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LLM05  </a:t>
            </a:r>
            <a:r>
              <a:rPr lang="en-US" sz="1000" dirty="0">
                <a:solidFill>
                  <a:schemeClr val="bg1"/>
                </a:solidFill>
              </a:rPr>
              <a:t>Improper output handling</a:t>
            </a:r>
            <a:endParaRPr lang="en-US" sz="1000" dirty="0"/>
          </a:p>
        </p:txBody>
      </p:sp>
      <p:sp>
        <p:nvSpPr>
          <p:cNvPr id="37" name="LLM5 status"/>
          <p:cNvSpPr txBox="1"/>
          <p:nvPr/>
        </p:nvSpPr>
        <p:spPr>
          <a:xfrm>
            <a:off x="7726680" y="2745486"/>
            <a:ext cx="685800" cy="192024"/>
          </a:xfrm>
          <a:prstGeom prst="roundRect">
            <a:avLst>
              <a:gd name="adj" fmla="val 50000"/>
            </a:avLst>
          </a:prstGeom>
          <a:solidFill>
            <a:srgbClr val="11241A"/>
          </a:solidFill>
          <a:ln/>
        </p:spPr>
        <p:txBody>
          <a:bodyPr wrap="square" lIns="0" tIns="0" rIns="0" bIns="0" rtlCol="0" anchor="ctr"/>
          <a:lstStyle/>
          <a:p>
            <a:pPr marL="0" indent="0" algn="ctr">
              <a:buNone/>
            </a:pPr>
            <a:r>
              <a:rPr lang="en-US" sz="1000" b="1" dirty="0">
                <a:solidFill>
                  <a:schemeClr val="accent4"/>
                </a:solidFill>
              </a:rPr>
              <a:t>Covered</a:t>
            </a:r>
            <a:endParaRPr lang="en-US" sz="1000" dirty="0"/>
          </a:p>
        </p:txBody>
      </p:sp>
      <p:sp>
        <p:nvSpPr>
          <p:cNvPr id="38" name="LLM6 Excessive agency"/>
          <p:cNvSpPr txBox="1"/>
          <p:nvPr/>
        </p:nvSpPr>
        <p:spPr>
          <a:xfrm>
            <a:off x="4937760" y="296722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LLM06  </a:t>
            </a:r>
            <a:r>
              <a:rPr lang="en-US" sz="1000" dirty="0">
                <a:solidFill>
                  <a:schemeClr val="bg1"/>
                </a:solidFill>
              </a:rPr>
              <a:t>Excessive agency</a:t>
            </a:r>
            <a:endParaRPr lang="en-US" sz="1000" dirty="0"/>
          </a:p>
        </p:txBody>
      </p:sp>
      <p:sp>
        <p:nvSpPr>
          <p:cNvPr id="39" name="LLM6 status"/>
          <p:cNvSpPr txBox="1"/>
          <p:nvPr/>
        </p:nvSpPr>
        <p:spPr>
          <a:xfrm>
            <a:off x="7726680" y="2996946"/>
            <a:ext cx="685800" cy="192024"/>
          </a:xfrm>
          <a:prstGeom prst="roundRect">
            <a:avLst>
              <a:gd name="adj" fmla="val 50000"/>
            </a:avLst>
          </a:prstGeom>
          <a:solidFill>
            <a:srgbClr val="0F1C2E"/>
          </a:solidFill>
          <a:ln/>
        </p:spPr>
        <p:txBody>
          <a:bodyPr wrap="square" lIns="0" tIns="0" rIns="0" bIns="0" rtlCol="0" anchor="ctr"/>
          <a:lstStyle/>
          <a:p>
            <a:pPr marL="0" indent="0" algn="ctr">
              <a:buNone/>
            </a:pPr>
            <a:r>
              <a:rPr lang="en-US" sz="1000" b="1" dirty="0">
                <a:solidFill>
                  <a:schemeClr val="accent3"/>
                </a:solidFill>
              </a:rPr>
              <a:t>Mostly</a:t>
            </a:r>
            <a:endParaRPr lang="en-US" sz="1000" dirty="0"/>
          </a:p>
        </p:txBody>
      </p:sp>
      <p:sp>
        <p:nvSpPr>
          <p:cNvPr id="40" name="LLM7 System prompt leakage"/>
          <p:cNvSpPr txBox="1"/>
          <p:nvPr/>
        </p:nvSpPr>
        <p:spPr>
          <a:xfrm>
            <a:off x="4937760" y="321868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LLM07  </a:t>
            </a:r>
            <a:r>
              <a:rPr lang="en-US" sz="1000" dirty="0">
                <a:solidFill>
                  <a:schemeClr val="bg1"/>
                </a:solidFill>
              </a:rPr>
              <a:t>System prompt leakage</a:t>
            </a:r>
            <a:endParaRPr lang="en-US" sz="1000" dirty="0"/>
          </a:p>
        </p:txBody>
      </p:sp>
      <p:sp>
        <p:nvSpPr>
          <p:cNvPr id="41" name="LLM7 status"/>
          <p:cNvSpPr txBox="1"/>
          <p:nvPr/>
        </p:nvSpPr>
        <p:spPr>
          <a:xfrm>
            <a:off x="7726680" y="3248406"/>
            <a:ext cx="685800" cy="192024"/>
          </a:xfrm>
          <a:prstGeom prst="roundRect">
            <a:avLst>
              <a:gd name="adj" fmla="val 50000"/>
            </a:avLst>
          </a:prstGeom>
          <a:solidFill>
            <a:srgbClr val="0F1C2E"/>
          </a:solidFill>
          <a:ln/>
        </p:spPr>
        <p:txBody>
          <a:bodyPr wrap="square" lIns="0" tIns="0" rIns="0" bIns="0" rtlCol="0" anchor="ctr"/>
          <a:lstStyle/>
          <a:p>
            <a:pPr marL="0" indent="0" algn="ctr">
              <a:buNone/>
            </a:pPr>
            <a:r>
              <a:rPr lang="en-US" sz="1000" b="1" dirty="0">
                <a:solidFill>
                  <a:schemeClr val="accent3"/>
                </a:solidFill>
              </a:rPr>
              <a:t>Mostly</a:t>
            </a:r>
            <a:endParaRPr lang="en-US" sz="1000" dirty="0"/>
          </a:p>
        </p:txBody>
      </p:sp>
      <p:sp>
        <p:nvSpPr>
          <p:cNvPr id="42" name="LLM8 Vector/embedding weaknesses"/>
          <p:cNvSpPr txBox="1"/>
          <p:nvPr/>
        </p:nvSpPr>
        <p:spPr>
          <a:xfrm>
            <a:off x="4937760" y="347014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LLM08  </a:t>
            </a:r>
            <a:r>
              <a:rPr lang="en-US" sz="1000" dirty="0">
                <a:solidFill>
                  <a:schemeClr val="bg1"/>
                </a:solidFill>
              </a:rPr>
              <a:t>Vector/embedding weaknesses</a:t>
            </a:r>
            <a:endParaRPr lang="en-US" sz="1000" dirty="0"/>
          </a:p>
        </p:txBody>
      </p:sp>
      <p:sp>
        <p:nvSpPr>
          <p:cNvPr id="43" name="LLM8 status"/>
          <p:cNvSpPr txBox="1"/>
          <p:nvPr/>
        </p:nvSpPr>
        <p:spPr>
          <a:xfrm>
            <a:off x="7726680" y="3499866"/>
            <a:ext cx="685800" cy="192024"/>
          </a:xfrm>
          <a:prstGeom prst="roundRect">
            <a:avLst>
              <a:gd name="adj" fmla="val 50000"/>
            </a:avLst>
          </a:prstGeom>
          <a:solidFill>
            <a:srgbClr val="2C241A"/>
          </a:solidFill>
          <a:ln/>
        </p:spPr>
        <p:txBody>
          <a:bodyPr wrap="square" lIns="0" tIns="0" rIns="0" bIns="0" rtlCol="0" anchor="ctr"/>
          <a:lstStyle/>
          <a:p>
            <a:pPr marL="0" indent="0" algn="ctr">
              <a:buNone/>
            </a:pPr>
            <a:r>
              <a:rPr lang="en-US" sz="1000" b="1" dirty="0">
                <a:solidFill>
                  <a:schemeClr val="bg2"/>
                </a:solidFill>
              </a:rPr>
              <a:t>N/A</a:t>
            </a:r>
            <a:endParaRPr lang="en-US" sz="1000" dirty="0"/>
          </a:p>
        </p:txBody>
      </p:sp>
      <p:sp>
        <p:nvSpPr>
          <p:cNvPr id="44" name="LLM9 Misinformation"/>
          <p:cNvSpPr txBox="1"/>
          <p:nvPr/>
        </p:nvSpPr>
        <p:spPr>
          <a:xfrm>
            <a:off x="4937760" y="372160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LLM09  </a:t>
            </a:r>
            <a:r>
              <a:rPr lang="en-US" sz="1000" dirty="0">
                <a:solidFill>
                  <a:schemeClr val="bg1"/>
                </a:solidFill>
              </a:rPr>
              <a:t>Misinformation</a:t>
            </a:r>
            <a:endParaRPr lang="en-US" sz="1000" dirty="0"/>
          </a:p>
        </p:txBody>
      </p:sp>
      <p:sp>
        <p:nvSpPr>
          <p:cNvPr id="45" name="LLM9 status"/>
          <p:cNvSpPr txBox="1"/>
          <p:nvPr/>
        </p:nvSpPr>
        <p:spPr>
          <a:xfrm>
            <a:off x="7726680" y="3751326"/>
            <a:ext cx="685800" cy="192024"/>
          </a:xfrm>
          <a:prstGeom prst="roundRect">
            <a:avLst>
              <a:gd name="adj" fmla="val 50000"/>
            </a:avLst>
          </a:prstGeom>
          <a:solidFill>
            <a:srgbClr val="11241A"/>
          </a:solidFill>
          <a:ln/>
        </p:spPr>
        <p:txBody>
          <a:bodyPr wrap="square" lIns="0" tIns="0" rIns="0" bIns="0" rtlCol="0" anchor="ctr"/>
          <a:lstStyle/>
          <a:p>
            <a:pPr marL="0" indent="0" algn="ctr">
              <a:buNone/>
            </a:pPr>
            <a:r>
              <a:rPr lang="en-US" sz="1000" b="1" dirty="0">
                <a:solidFill>
                  <a:schemeClr val="accent4"/>
                </a:solidFill>
              </a:rPr>
              <a:t>Covered</a:t>
            </a:r>
            <a:endParaRPr lang="en-US" sz="1000" dirty="0"/>
          </a:p>
        </p:txBody>
      </p:sp>
      <p:sp>
        <p:nvSpPr>
          <p:cNvPr id="46" name="LLM10 Unbounded consumption"/>
          <p:cNvSpPr txBox="1"/>
          <p:nvPr/>
        </p:nvSpPr>
        <p:spPr>
          <a:xfrm>
            <a:off x="4937760" y="3973068"/>
            <a:ext cx="2697480" cy="251460"/>
          </a:xfrm>
          <a:prstGeom prst="rect">
            <a:avLst/>
          </a:prstGeom>
          <a:noFill/>
          <a:ln/>
        </p:spPr>
        <p:txBody>
          <a:bodyPr wrap="square" lIns="0" tIns="0" rIns="0" bIns="0" rtlCol="0" anchor="ctr"/>
          <a:lstStyle/>
          <a:p>
            <a:pPr marL="0" indent="0">
              <a:buNone/>
            </a:pPr>
            <a:r>
              <a:rPr lang="en-US" sz="1000" dirty="0">
                <a:solidFill>
                  <a:schemeClr val="bg2"/>
                </a:solidFill>
              </a:rPr>
              <a:t>LLM10  </a:t>
            </a:r>
            <a:r>
              <a:rPr lang="en-US" sz="1000" dirty="0">
                <a:solidFill>
                  <a:schemeClr val="bg1"/>
                </a:solidFill>
              </a:rPr>
              <a:t>Unbounded consumption</a:t>
            </a:r>
            <a:endParaRPr lang="en-US" sz="1000" dirty="0"/>
          </a:p>
        </p:txBody>
      </p:sp>
      <p:sp>
        <p:nvSpPr>
          <p:cNvPr id="47" name="LLM10 status"/>
          <p:cNvSpPr txBox="1"/>
          <p:nvPr/>
        </p:nvSpPr>
        <p:spPr>
          <a:xfrm>
            <a:off x="7726680" y="4002786"/>
            <a:ext cx="685800" cy="192024"/>
          </a:xfrm>
          <a:prstGeom prst="roundRect">
            <a:avLst>
              <a:gd name="adj" fmla="val 50000"/>
            </a:avLst>
          </a:prstGeom>
          <a:solidFill>
            <a:srgbClr val="2A1F0A"/>
          </a:solidFill>
          <a:ln/>
        </p:spPr>
        <p:txBody>
          <a:bodyPr wrap="square" lIns="0" tIns="0" rIns="0" bIns="0" rtlCol="0" anchor="ctr"/>
          <a:lstStyle/>
          <a:p>
            <a:pPr marL="0" indent="0" algn="ctr">
              <a:buNone/>
            </a:pPr>
            <a:r>
              <a:rPr lang="en-US" sz="1000" b="1" dirty="0">
                <a:solidFill>
                  <a:schemeClr val="accent5"/>
                </a:solidFill>
              </a:rPr>
              <a:t>Partly</a:t>
            </a:r>
            <a:endParaRPr lang="en-US" sz="1000" dirty="0"/>
          </a:p>
        </p:txBody>
      </p:sp>
      <p:sp>
        <p:nvSpPr>
          <p:cNvPr id="48" name="OWASP coverage source"/>
          <p:cNvSpPr txBox="1"/>
          <p:nvPr/>
        </p:nvSpPr>
        <p:spPr>
          <a:xfrm>
            <a:off x="4754880" y="4416552"/>
            <a:ext cx="3840480" cy="228600"/>
          </a:xfrm>
          <a:prstGeom prst="rect">
            <a:avLst/>
          </a:prstGeom>
          <a:noFill/>
          <a:ln/>
        </p:spPr>
        <p:txBody>
          <a:bodyPr wrap="square" lIns="0" tIns="0" rIns="0" bIns="0" rtlCol="0" anchor="t"/>
          <a:lstStyle/>
          <a:p>
            <a:pPr marL="0" indent="0">
              <a:buNone/>
            </a:pPr>
            <a:endParaRPr lang="en-US" sz="1000" dirty="0"/>
          </a:p>
        </p:txBody>
      </p:sp>
    </p:spTree>
  </p:cSld>
  <p:clrMapOvr>
    <a:masterClrMapping/>
  </p:clrMapOvr>
</p:sld>
</file>

<file path=ppt/theme/theme1.xml><?xml version="1.0" encoding="utf-8"?>
<a:theme xmlns:a="http://schemas.openxmlformats.org/drawingml/2006/main" name="Polaris">
  <a:themeElements>
    <a:clrScheme name="Polaris">
      <a:dk1>
        <a:srgbClr val="0C0701"/>
      </a:dk1>
      <a:lt1>
        <a:srgbClr val="FAF8F4"/>
      </a:lt1>
      <a:dk2>
        <a:srgbClr val="19130C"/>
      </a:dk2>
      <a:lt2>
        <a:srgbClr val="C9BFB2"/>
      </a:lt2>
      <a:accent1>
        <a:srgbClr val="F08A4B"/>
      </a:accent1>
      <a:accent2>
        <a:srgbClr val="A84E18"/>
      </a:accent2>
      <a:accent3>
        <a:srgbClr val="9CC3FF"/>
      </a:accent3>
      <a:accent4>
        <a:srgbClr val="8FD19E"/>
      </a:accent4>
      <a:accent5>
        <a:srgbClr val="F0C674"/>
      </a:accent5>
      <a:accent6>
        <a:srgbClr val="F19A8E"/>
      </a:accent6>
      <a:hlink>
        <a:srgbClr val="FAF8F4"/>
      </a:hlink>
      <a:folHlink>
        <a:srgbClr val="C9BFB2"/>
      </a:folHlink>
    </a:clrScheme>
    <a:fontScheme name="Polaris">
      <a:majorFont>
        <a:latin typeface="Verda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862</Words>
  <Application>Microsoft Office PowerPoint</Application>
  <PresentationFormat>On-screen Show (16:9)</PresentationFormat>
  <Paragraphs>153</Paragraphs>
  <Slides>8</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Polaris</vt:lpstr>
      <vt:lpstr>Polaris</vt:lpstr>
      <vt:lpstr>What problems can the app solve?</vt:lpstr>
      <vt:lpstr>Who is our target audience?</vt:lpstr>
      <vt:lpstr>Core MVP functionalities</vt:lpstr>
      <vt:lpstr>UX/UI</vt:lpstr>
      <vt:lpstr>Technical requirements</vt:lpstr>
      <vt:lpstr>System design</vt:lpstr>
      <vt:lpstr>Security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Polaris</dc:title>
  <dc:subject>PptxGenJS Presentation</dc:subject>
  <dc:creator>Hani</dc:creator>
  <cp:lastModifiedBy>Hani Z. Abdel Ghani</cp:lastModifiedBy>
  <cp:revision>3</cp:revision>
  <dcterms:created xsi:type="dcterms:W3CDTF">2026-10-19T01:43:22Z</dcterms:created>
  <dcterms:modified xsi:type="dcterms:W3CDTF">2026-10-19T02:18:33Z</dcterms:modified>
</cp:coreProperties>
</file>